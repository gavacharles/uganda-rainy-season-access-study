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Monthly expected (2006–2025 rainfall)</c:v>
                </c:pt>
              </c:strCache>
            </c:strRef>
          </c:tx>
          <c:spPr>
            <a:ln w="38100">
              <a:solidFill>
                <a:srgbClr val="B5451B"/>
              </a:solidFill>
            </a:ln>
          </c:spPr>
          <c:marker>
            <c:size val="7"/>
            <c:spPr>
              <a:solidFill>
                <a:srgbClr val="B5451B"/>
              </a:solidFill>
              <a:ln>
                <a:solidFill>
                  <a:srgbClr val="B5451B"/>
                </a:solidFill>
              </a:ln>
            </c:spPr>
          </c:marker>
          <c:dLbls>
            <c:dLbl>
              <c:idx val="3"/>
              <c:spPr/>
              <c:txPr>
                <a:bodyPr/>
                <a:lstStyle/>
                <a:p>
                  <a:pPr>
                    <a:defRPr sz="1300" b="1">
                      <a:solidFill>
                        <a:srgbClr val="B5451B"/>
                      </a:solidFill>
                    </a:defRPr>
                  </a:pPr>
                </a:p>
              </c:txPr>
              <c:dLblPos val="t"/>
              <c:showLegendKey val="0"/>
              <c:showVal val="1"/>
              <c:showCatName val="0"/>
              <c:showSerName val="0"/>
              <c:showPercent val="0"/>
              <c:showBubbleSize val="0"/>
            </c:dLbl>
            <c:dLbl>
              <c:idx val="9"/>
              <c:spPr/>
              <c:txPr>
                <a:bodyPr/>
                <a:lstStyle/>
                <a:p>
                  <a:pPr>
                    <a:defRPr sz="1300" b="1">
                      <a:solidFill>
                        <a:srgbClr val="B5451B"/>
                      </a:solidFill>
                    </a:defRPr>
                  </a:pPr>
                </a:p>
              </c:txPr>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13.6</c:v>
                </c:pt>
                <c:pt idx="1">
                  <c:v>13.9</c:v>
                </c:pt>
                <c:pt idx="2">
                  <c:v>15.8</c:v>
                </c:pt>
                <c:pt idx="3">
                  <c:v>18.1</c:v>
                </c:pt>
                <c:pt idx="4">
                  <c:v>17.0</c:v>
                </c:pt>
                <c:pt idx="5">
                  <c:v>15.6</c:v>
                </c:pt>
                <c:pt idx="6">
                  <c:v>15.3</c:v>
                </c:pt>
                <c:pt idx="7">
                  <c:v>16.6</c:v>
                </c:pt>
                <c:pt idx="8">
                  <c:v>16.7</c:v>
                </c:pt>
                <c:pt idx="9">
                  <c:v>17.4</c:v>
                </c:pt>
                <c:pt idx="10">
                  <c:v>16.5</c:v>
                </c:pt>
                <c:pt idx="11">
                  <c:v>15.0</c:v>
                </c:pt>
              </c:numCache>
            </c:numRef>
          </c:val>
          <c:smooth val="0"/>
        </c:ser>
        <c:ser>
          <c:idx val="1"/>
          <c:order val="1"/>
          <c:tx>
            <c:strRef>
              <c:f>Sheet1!$C$1</c:f>
              <c:strCache>
                <c:ptCount val="1"/>
                <c:pt idx="0">
                  <c:v>Every day dry</c:v>
                </c:pt>
              </c:strCache>
            </c:strRef>
          </c:tx>
          <c:spPr>
            <a:ln w="25400">
              <a:solidFill>
                <a:srgbClr val="2F6FB5"/>
              </a:solidFill>
              <a:prstDash val="dash"/>
            </a:ln>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13.1</c:v>
                </c:pt>
                <c:pt idx="1">
                  <c:v>13.1</c:v>
                </c:pt>
                <c:pt idx="2">
                  <c:v>13.1</c:v>
                </c:pt>
                <c:pt idx="3">
                  <c:v>13.1</c:v>
                </c:pt>
                <c:pt idx="4">
                  <c:v>13.1</c:v>
                </c:pt>
                <c:pt idx="5">
                  <c:v>13.1</c:v>
                </c:pt>
                <c:pt idx="6">
                  <c:v>13.1</c:v>
                </c:pt>
                <c:pt idx="7">
                  <c:v>13.1</c:v>
                </c:pt>
                <c:pt idx="8">
                  <c:v>13.1</c:v>
                </c:pt>
                <c:pt idx="9">
                  <c:v>13.1</c:v>
                </c:pt>
                <c:pt idx="10">
                  <c:v>13.1</c:v>
                </c:pt>
                <c:pt idx="11">
                  <c:v>13.1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8C0CA"/>
            </a:solidFill>
          </a:ln>
        </c:spPr>
        <c:txPr>
          <a:bodyPr/>
          <a:lstStyle/>
          <a:p>
            <a:pPr>
              <a:defRPr sz="1200"/>
            </a:pPr>
          </a:p>
        </c:txPr>
        <c:crossAx val="2140495176"/>
        <c:crosses val="autoZero"/>
        <c:auto val="1"/>
        <c:lblAlgn val="ctr"/>
        <c:lblOffset val="100"/>
        <c:noMultiLvlLbl val="0"/>
      </c:catAx>
      <c:valAx>
        <c:axId val="2140495176"/>
        <c:scaling>
          <c:max val="20.0"/>
          <c:min val="10.0"/>
        </c:scaling>
        <c:delete val="0"/>
        <c:axPos val="l"/>
        <c:majorGridlines>
          <c:spPr>
            <a:ln w="9525">
              <a:solidFill>
                <a:srgbClr val="DDE2E8"/>
              </a:solidFill>
            </a:ln>
          </c:spPr>
        </c:majorGridlines>
        <c:numFmt formatCode="0&quot;%&quot;" sourceLinked="0"/>
        <c:majorTickMark val="out"/>
        <c:minorTickMark val="none"/>
        <c:tickLblPos val="nextTo"/>
        <c:spPr>
          <a:ln>
            <a:noFill/>
          </a:ln>
        </c:spPr>
        <c:txPr>
          <a:bodyPr/>
          <a:lstStyle/>
          <a:p>
            <a:pPr>
              <a:defRPr sz="1100"/>
            </a:pPr>
          </a:p>
        </c:txPr>
        <c:crossAx val="2118791784"/>
        <c:crosses val="autoZero"/>
        <c:majorUnit val="2.0"/>
      </c:valAx>
    </c:plotArea>
    <c:legend>
      <c:legendPos val="t"/>
      <c:layout/>
      <c:overlay val="0"/>
      <c:txPr>
        <a:bodyPr/>
        <a:lstStyle/>
        <a:p>
          <a:pPr>
            <a:defRPr sz="1200"/>
          </a:pPr>
        </a:p>
      </c:txPr>
    </c:legend>
    <c:plotVisOnly val="1"/>
    <c:dispBlanksAs val="gap"/>
    <c:showDLblsOverMax val="0"/>
  </c:chart>
  <c:txPr>
    <a:bodyPr/>
    <a:lstStyle/>
    <a:p>
      <a:pPr>
        <a:defRPr sz="1200">
          <a:solidFill>
            <a:srgbClr val="5B657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Dry weather</c:v>
                </c:pt>
              </c:strCache>
            </c:strRef>
          </c:tx>
          <c:spPr>
            <a:solidFill>
              <a:srgbClr val="9DBFE6"/>
            </a:solidFill>
          </c:spPr>
          <c:dLbls>
            <c:numFmt formatCode="0&quot;%&quot;" sourceLinked="0"/>
            <c:txPr>
              <a:bodyPr/>
              <a:lstStyle/>
              <a:p>
                <a:pPr>
                  <a:defRPr sz="1200">
                    <a:solidFill>
                      <a:srgbClr val="1F2A37"/>
                    </a:solidFill>
                  </a:defRPr>
                </a:pPr>
              </a:p>
            </c:txPr>
            <c:dLblPos val="outEnd"/>
            <c:showLegendKey val="0"/>
            <c:showVal val="1"/>
            <c:showCatName val="0"/>
            <c:showSerName val="0"/>
            <c:showPercent val="0"/>
            <c:showBubbleSize val="0"/>
            <c:showLeaderLines val="1"/>
          </c:dLbls>
          <c:cat>
            <c:strRef>
              <c:f>Sheet1!$A$2:$A$6</c:f>
              <c:strCache>
                <c:ptCount val="5"/>
                <c:pt idx="0">
                  <c:v>Poorest fifth</c:v>
                </c:pt>
                <c:pt idx="1">
                  <c:v>2nd</c:v>
                </c:pt>
                <c:pt idx="2">
                  <c:v>3rd</c:v>
                </c:pt>
                <c:pt idx="3">
                  <c:v>4th</c:v>
                </c:pt>
                <c:pt idx="4">
                  <c:v>Richest fifth</c:v>
                </c:pt>
              </c:strCache>
            </c:strRef>
          </c:cat>
          <c:val>
            <c:numRef>
              <c:f>Sheet1!$B$2:$B$6</c:f>
              <c:numCache>
                <c:formatCode>General</c:formatCode>
                <c:ptCount val="5"/>
                <c:pt idx="0">
                  <c:v>23.4</c:v>
                </c:pt>
                <c:pt idx="1">
                  <c:v>16.2</c:v>
                </c:pt>
                <c:pt idx="2">
                  <c:v>10.2</c:v>
                </c:pt>
                <c:pt idx="3">
                  <c:v>5.9</c:v>
                </c:pt>
                <c:pt idx="4">
                  <c:v>0.8</c:v>
                </c:pt>
              </c:numCache>
            </c:numRef>
          </c:val>
        </c:ser>
        <c:ser>
          <c:idx val="1"/>
          <c:order val="1"/>
          <c:tx>
            <c:strRef>
              <c:f>Sheet1!$C$1</c:f>
              <c:strCache>
                <c:ptCount val="1"/>
                <c:pt idx="0">
                  <c:v>April</c:v>
                </c:pt>
              </c:strCache>
            </c:strRef>
          </c:tx>
          <c:spPr>
            <a:solidFill>
              <a:srgbClr val="B5451B"/>
            </a:solidFill>
          </c:spPr>
          <c:dLbls>
            <c:numFmt formatCode="0&quot;%&quot;" sourceLinked="0"/>
            <c:txPr>
              <a:bodyPr/>
              <a:lstStyle/>
              <a:p>
                <a:pPr>
                  <a:defRPr sz="1200">
                    <a:solidFill>
                      <a:srgbClr val="1F2A37"/>
                    </a:solidFill>
                  </a:defRPr>
                </a:pPr>
              </a:p>
            </c:txPr>
            <c:dLblPos val="outEnd"/>
            <c:showLegendKey val="0"/>
            <c:showVal val="1"/>
            <c:showCatName val="0"/>
            <c:showSerName val="0"/>
            <c:showPercent val="0"/>
            <c:showBubbleSize val="0"/>
            <c:showLeaderLines val="1"/>
          </c:dLbls>
          <c:cat>
            <c:strRef>
              <c:f>Sheet1!$A$2:$A$6</c:f>
              <c:strCache>
                <c:ptCount val="5"/>
                <c:pt idx="0">
                  <c:v>Poorest fifth</c:v>
                </c:pt>
                <c:pt idx="1">
                  <c:v>2nd</c:v>
                </c:pt>
                <c:pt idx="2">
                  <c:v>3rd</c:v>
                </c:pt>
                <c:pt idx="3">
                  <c:v>4th</c:v>
                </c:pt>
                <c:pt idx="4">
                  <c:v>Richest fifth</c:v>
                </c:pt>
              </c:strCache>
            </c:strRef>
          </c:cat>
          <c:val>
            <c:numRef>
              <c:f>Sheet1!$C$2:$C$6</c:f>
              <c:numCache>
                <c:formatCode>General</c:formatCode>
                <c:ptCount val="5"/>
                <c:pt idx="0">
                  <c:v>32.1</c:v>
                </c:pt>
                <c:pt idx="1">
                  <c:v>23.4</c:v>
                </c:pt>
                <c:pt idx="2">
                  <c:v>15.6</c:v>
                </c:pt>
                <c:pt idx="3">
                  <c:v>9.1</c:v>
                </c:pt>
                <c:pt idx="4">
                  <c:v>1.0</c:v>
                </c:pt>
              </c:numCache>
            </c:numRef>
          </c:val>
        </c:ser>
        <c:gapWidth val="70"/>
        <c:overlap val="-10"/>
        <c:axId val="-2068027336"/>
        <c:axId val="-2113994440"/>
      </c:barChart>
      <c:catAx>
        <c:axId val="-2068027336"/>
        <c:scaling>
          <c:orientation val="minMax"/>
        </c:scaling>
        <c:delete val="0"/>
        <c:axPos val="b"/>
        <c:majorTickMark val="out"/>
        <c:minorTickMark val="none"/>
        <c:tickLblPos val="nextTo"/>
        <c:spPr>
          <a:ln>
            <a:solidFill>
              <a:srgbClr val="B8C0CA"/>
            </a:solidFill>
          </a:ln>
        </c:spPr>
        <c:txPr>
          <a:bodyPr/>
          <a:lstStyle/>
          <a:p>
            <a:pPr>
              <a:defRPr sz="1200"/>
            </a:pPr>
          </a:p>
        </c:txPr>
        <c:crossAx val="-2113994440"/>
        <c:crosses val="autoZero"/>
        <c:auto val="1"/>
        <c:lblAlgn val="ctr"/>
        <c:lblOffset val="100"/>
        <c:noMultiLvlLbl val="0"/>
      </c:catAx>
      <c:valAx>
        <c:axId val="-2113994440"/>
        <c:scaling>
          <c:max val="40.0"/>
          <c:min val="0.0"/>
        </c:scaling>
        <c:delete val="0"/>
        <c:axPos val="l"/>
        <c:majorGridlines>
          <c:spPr>
            <a:ln w="9525">
              <a:solidFill>
                <a:srgbClr val="DDE2E8"/>
              </a:solidFill>
            </a:ln>
          </c:spPr>
        </c:majorGridlines>
        <c:numFmt formatCode="0&quot;%&quot;" sourceLinked="0"/>
        <c:majorTickMark val="out"/>
        <c:minorTickMark val="none"/>
        <c:tickLblPos val="nextTo"/>
        <c:spPr>
          <a:ln>
            <a:noFill/>
          </a:ln>
        </c:spPr>
        <c:txPr>
          <a:bodyPr/>
          <a:lstStyle/>
          <a:p>
            <a:pPr>
              <a:defRPr sz="1100"/>
            </a:pPr>
          </a:p>
        </c:txPr>
        <c:crossAx val="-2068027336"/>
        <c:crosses val="autoZero"/>
        <c:majorUnit val="10.0"/>
      </c:valAx>
    </c:plotArea>
    <c:legend>
      <c:legendPos val="t"/>
      <c:overlay val="0"/>
      <c:txPr>
        <a:bodyPr/>
        <a:lstStyle/>
        <a:p>
          <a:pPr>
            <a:defRPr sz="1200"/>
          </a:pPr>
        </a:p>
      </c:txPr>
    </c:legend>
    <c:dispBlanksAs val="gap"/>
  </c:chart>
  <c:txPr>
    <a:bodyPr/>
    <a:lstStyle/>
    <a:p>
      <a:pPr>
        <a:defRPr sz="1200">
          <a:solidFill>
            <a:srgbClr val="5B657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Extra people beyond 1 h in April (thousands)</c:v>
                </c:pt>
              </c:strCache>
            </c:strRef>
          </c:tx>
          <c:spPr>
            <a:solidFill>
              <a:srgbClr val="0D2B52"/>
            </a:solidFill>
          </c:spPr>
          <c:dLbls>
            <c:numFmt formatCode="0&quot;k&quot;" sourceLinked="0"/>
            <c:txPr>
              <a:bodyPr/>
              <a:lstStyle/>
              <a:p>
                <a:pPr>
                  <a:defRPr sz="1300" b="1">
                    <a:solidFill>
                      <a:srgbClr val="0D2B52"/>
                    </a:solidFill>
                  </a:defRPr>
                </a:pPr>
              </a:p>
            </c:txPr>
            <c:dLblPos val="outEnd"/>
            <c:showLegendKey val="0"/>
            <c:showVal val="1"/>
            <c:showCatName val="0"/>
            <c:showSerName val="0"/>
            <c:showPercent val="0"/>
            <c:showBubbleSize val="0"/>
            <c:showLeaderLines val="1"/>
          </c:dLbls>
          <c:cat>
            <c:strRef>
              <c:f>Sheet1!$A$2:$A$7</c:f>
              <c:strCache>
                <c:ptCount val="6"/>
                <c:pt idx="0">
                  <c:v>Kyenjojo Hospital</c:v>
                </c:pt>
                <c:pt idx="1">
                  <c:v>Pallisa Hospital</c:v>
                </c:pt>
                <c:pt idx="2">
                  <c:v>Kagadi Hospital</c:v>
                </c:pt>
                <c:pt idx="3">
                  <c:v>Kamuli Hospital</c:v>
                </c:pt>
                <c:pt idx="4">
                  <c:v>Lira RRH</c:v>
                </c:pt>
                <c:pt idx="5">
                  <c:v>Mubende RRH</c:v>
                </c:pt>
              </c:strCache>
            </c:strRef>
          </c:cat>
          <c:val>
            <c:numRef>
              <c:f>Sheet1!$B$2:$B$7</c:f>
              <c:numCache>
                <c:formatCode>General</c:formatCode>
                <c:ptCount val="6"/>
                <c:pt idx="0">
                  <c:v>91.0</c:v>
                </c:pt>
                <c:pt idx="1">
                  <c:v>108.0</c:v>
                </c:pt>
                <c:pt idx="2">
                  <c:v>118.0</c:v>
                </c:pt>
                <c:pt idx="3">
                  <c:v>127.0</c:v>
                </c:pt>
                <c:pt idx="4">
                  <c:v>141.0</c:v>
                </c:pt>
                <c:pt idx="5">
                  <c:v>155.0</c:v>
                </c:pt>
              </c:numCache>
            </c:numRef>
          </c:val>
        </c:ser>
        <c:gapWidth val="55"/>
        <c:axId val="-2068027336"/>
        <c:axId val="-2113994440"/>
      </c:barChart>
      <c:catAx>
        <c:axId val="-2068027336"/>
        <c:scaling>
          <c:orientation val="minMax"/>
        </c:scaling>
        <c:delete val="0"/>
        <c:axPos val="l"/>
        <c:majorTickMark val="out"/>
        <c:minorTickMark val="none"/>
        <c:tickLblPos val="nextTo"/>
        <c:spPr>
          <a:ln>
            <a:solidFill>
              <a:srgbClr val="B8C0CA"/>
            </a:solidFill>
          </a:ln>
        </c:spPr>
        <c:txPr>
          <a:bodyPr/>
          <a:lstStyle/>
          <a:p>
            <a:pPr>
              <a:defRPr sz="1300">
                <a:solidFill>
                  <a:srgbClr val="1F2A37"/>
                </a:solidFill>
              </a:defRPr>
            </a:pPr>
          </a:p>
        </c:txPr>
        <c:crossAx val="-2113994440"/>
        <c:crosses val="autoZero"/>
        <c:auto val="1"/>
        <c:lblAlgn val="ctr"/>
        <c:lblOffset val="100"/>
        <c:noMultiLvlLbl val="0"/>
      </c:catAx>
      <c:valAx>
        <c:axId val="-2113994440"/>
        <c:scaling>
          <c:max val="180.0"/>
          <c:min val="0.0"/>
        </c:scaling>
        <c:delete/>
        <c:axPos val="b"/>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B657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April minus dry (percentage points)</c:v>
                </c:pt>
              </c:strCache>
            </c:strRef>
          </c:tx>
          <c:spPr>
            <a:solidFill>
              <a:srgbClr val="9DBFE6"/>
            </a:solidFill>
          </c:spPr>
          <c:dPt>
            <c:idx val="1"/>
            <c:spPr>
              <a:solidFill>
                <a:srgbClr val="B5451B"/>
              </a:solidFill>
            </c:spPr>
          </c:dPt>
          <c:dLbls>
            <c:numFmt formatCode="&quot;+&quot;0.0&quot; pts&quot;" sourceLinked="0"/>
            <c:txPr>
              <a:bodyPr/>
              <a:lstStyle/>
              <a:p>
                <a:pPr>
                  <a:defRPr sz="1400" b="1">
                    <a:solidFill>
                      <a:srgbClr val="1F2A37"/>
                    </a:solidFill>
                  </a:defRPr>
                </a:pPr>
              </a:p>
            </c:txPr>
            <c:dLblPos val="outEnd"/>
            <c:showLegendKey val="0"/>
            <c:showVal val="1"/>
            <c:showCatName val="0"/>
            <c:showSerName val="0"/>
            <c:showPercent val="0"/>
            <c:showBubbleSize val="0"/>
            <c:showLeaderLines val="1"/>
          </c:dLbls>
          <c:cat>
            <c:strRef>
              <c:f>Sheet1!$A$2:$A$4</c:f>
              <c:strCache>
                <c:ptCount val="3"/>
                <c:pt idx="0">
                  <c:v>≥20 mm</c:v>
                </c:pt>
                <c:pt idx="1">
                  <c:v>≥10 mm (baseline)</c:v>
                </c:pt>
                <c:pt idx="2">
                  <c:v>≥5 mm</c:v>
                </c:pt>
              </c:strCache>
            </c:strRef>
          </c:cat>
          <c:val>
            <c:numRef>
              <c:f>Sheet1!$B$2:$B$4</c:f>
              <c:numCache>
                <c:formatCode>General</c:formatCode>
                <c:ptCount val="3"/>
                <c:pt idx="0">
                  <c:v>0.8</c:v>
                </c:pt>
                <c:pt idx="1">
                  <c:v>5.0</c:v>
                </c:pt>
                <c:pt idx="2">
                  <c:v>10.5</c:v>
                </c:pt>
              </c:numCache>
            </c:numRef>
          </c:val>
        </c:ser>
        <c:gapWidth val="80"/>
        <c:axId val="-2068027336"/>
        <c:axId val="-2113994440"/>
      </c:barChart>
      <c:catAx>
        <c:axId val="-2068027336"/>
        <c:scaling>
          <c:orientation val="minMax"/>
        </c:scaling>
        <c:delete val="0"/>
        <c:axPos val="b"/>
        <c:majorTickMark val="out"/>
        <c:minorTickMark val="none"/>
        <c:tickLblPos val="nextTo"/>
        <c:spPr>
          <a:ln>
            <a:solidFill>
              <a:srgbClr val="B8C0CA"/>
            </a:solidFill>
          </a:ln>
        </c:spPr>
        <c:txPr>
          <a:bodyPr/>
          <a:lstStyle/>
          <a:p>
            <a:pPr>
              <a:defRPr sz="1200"/>
            </a:pPr>
          </a:p>
        </c:txPr>
        <c:crossAx val="-2113994440"/>
        <c:crosses val="autoZero"/>
        <c:auto val="1"/>
        <c:lblAlgn val="ctr"/>
        <c:lblOffset val="100"/>
        <c:noMultiLvlLbl val="0"/>
      </c:catAx>
      <c:valAx>
        <c:axId val="-2113994440"/>
        <c:scaling>
          <c:max val="13.0"/>
          <c:min val="0.0"/>
        </c:scaling>
        <c:delete/>
        <c:axPos val="l"/>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5B657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study asks how much Uganda's rainy seasons lengthen journeys to essential services, where, in which months, and for whom. The cover map shows modelled travel time to the nearest hospital if every road were wet: darker blue means longer journeys.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Uganda has a bimodal rainfall regime. Most of its road network is unpaved and many rural routes cross rivers by fords. Conventional friction-surface accessibility models use one fixed speed per road class, so they describe access on a dry day and miss the seasonal swing entirely.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has four parts: magnitude, timing, geography and equity. The two-hour benchmark comes from the Lancet Commission on Global Surgery and WHO.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inputs are open. 22 hospitals and HC IVs with clearly wrong coordinates were moved to their OpenStreetMap location (see data/facility_relocations.csv).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ford only cuts off a cell when it is the only way through, because other roads in the same 1 km cell keep their speed. The wet-day rule comes from the companion paper on construction delays (lost earthworks days). All parameters live in PARAMS in scripts/model.py.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reported are for 2006–2025 rainfall and the official facility list, unless stated. Alternative runs use OSM facilities and walking-only travel.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year has two peaks, following the two rainy seasons: April (18.1%) and October (17.4%). The difference between dry weather and April is about 5 percentage points, roughly 2.3 million people. The curve for 1981–2000 rainfall is almost identical: the seasonal cycle matters much more than the long-term trend.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fully wet map is an upper bound: it assumes every day is wet. Monthly results mix the two according to each cell's share of wet days.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poorest start furthest away and the rains add the most to their journeys. Wealthier areas are close to facilities and on better roads. The seasonal gap is an inequality gap that recurs on a known timetable.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Emergency obstetric care is proxied by the nearest HC IV or hospital, against the 2-hour benchmark. A woman with a boda boda or a vehicle is almost always within reach; a woman who has to walk often is not, and the rains make it worse.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Clusters are in Busoga, around Mubende and Kassanda, in Lango and along the Lake Victoria shore. District health teams could use these worst-month figures to pre-position ambulances, stock and outreach.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top three are on secondary roads in the east and north-east. Crossings within 2 km of a higher-ranked one are merged.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the April rise as a range: about 1 to 10 points, 5 central. The seasonal test of whether facility births dip in bad months needs DHS birth-level microdata.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national seasonal pattern under 1981–2000 rainfall is almost the same as under 2006–2025: the seasonal cycle, not the long-term rainfall trend, drives access. This links back to the companion construction-delay paper: when a road contract slips into the rainy season, it delays the road and extends the isolation it was meant to fix.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ground-truth the crossing list, add UNHCR settlement boundaries, model ferries, and run the seasonal births test with DHS birth-level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B52"/>
        </a:solidFill>
        <a:effectLst/>
      </p:bgPr>
    </p:bg>
    <p:spTree>
      <p:nvGrpSpPr>
        <p:cNvPr id="1" name=""/>
        <p:cNvGrpSpPr/>
        <p:nvPr/>
      </p:nvGrpSpPr>
      <p:grpSpPr/>
      <p:sp>
        <p:nvSpPr>
          <p:cNvPr id="2" name="TextBox 1"/>
          <p:cNvSpPr txBox="1"/>
          <p:nvPr/>
        </p:nvSpPr>
        <p:spPr>
          <a:xfrm>
            <a:off x="640080" y="1234440"/>
            <a:ext cx="5852160" cy="365760"/>
          </a:xfrm>
          <a:prstGeom prst="rect">
            <a:avLst/>
          </a:prstGeom>
          <a:noFill/>
        </p:spPr>
        <p:txBody>
          <a:bodyPr wrap="square" lIns="0" rIns="0" tIns="0" bIns="0" anchor="t">
            <a:spAutoFit/>
          </a:bodyPr>
          <a:lstStyle/>
          <a:p>
            <a:pPr algn="l"/>
            <a:r>
              <a:rPr sz="1300" b="1" i="0">
                <a:solidFill>
                  <a:srgbClr val="9DBFE6"/>
                </a:solidFill>
                <a:latin typeface="Calibri"/>
              </a:rPr>
              <a:t>RESEARCH PRESENTATION</a:t>
            </a:r>
          </a:p>
        </p:txBody>
      </p:sp>
      <p:sp>
        <p:nvSpPr>
          <p:cNvPr id="3" name="TextBox 2"/>
          <p:cNvSpPr txBox="1"/>
          <p:nvPr/>
        </p:nvSpPr>
        <p:spPr>
          <a:xfrm>
            <a:off x="640080" y="1600200"/>
            <a:ext cx="6035040" cy="1554480"/>
          </a:xfrm>
          <a:prstGeom prst="rect">
            <a:avLst/>
          </a:prstGeom>
          <a:noFill/>
        </p:spPr>
        <p:txBody>
          <a:bodyPr wrap="square" lIns="0" rIns="0" tIns="0" bIns="0" anchor="t">
            <a:spAutoFit/>
          </a:bodyPr>
          <a:lstStyle/>
          <a:p>
            <a:pPr algn="l"/>
            <a:r>
              <a:rPr sz="4800" b="1" i="0">
                <a:solidFill>
                  <a:srgbClr val="FFFFFF"/>
                </a:solidFill>
                <a:latin typeface="Cambria"/>
              </a:rPr>
              <a:t>When the Rains Come</a:t>
            </a:r>
          </a:p>
        </p:txBody>
      </p:sp>
      <p:sp>
        <p:nvSpPr>
          <p:cNvPr id="4" name="TextBox 3"/>
          <p:cNvSpPr txBox="1"/>
          <p:nvPr/>
        </p:nvSpPr>
        <p:spPr>
          <a:xfrm>
            <a:off x="640080" y="3200400"/>
            <a:ext cx="5760720" cy="914400"/>
          </a:xfrm>
          <a:prstGeom prst="rect">
            <a:avLst/>
          </a:prstGeom>
          <a:noFill/>
        </p:spPr>
        <p:txBody>
          <a:bodyPr wrap="square" lIns="0" rIns="0" tIns="0" bIns="0" anchor="t">
            <a:spAutoFit/>
          </a:bodyPr>
          <a:lstStyle/>
          <a:p>
            <a:pPr algn="l"/>
            <a:r>
              <a:rPr sz="2200" b="0" i="0">
                <a:solidFill>
                  <a:srgbClr val="CADCF2"/>
                </a:solidFill>
                <a:latin typeface="Cambria"/>
              </a:rPr>
              <a:t>Seasonal access to health care, schools and markets in Uganda</a:t>
            </a:r>
          </a:p>
        </p:txBody>
      </p:sp>
      <p:sp>
        <p:nvSpPr>
          <p:cNvPr id="5" name="TextBox 4"/>
          <p:cNvSpPr txBox="1"/>
          <p:nvPr/>
        </p:nvSpPr>
        <p:spPr>
          <a:xfrm>
            <a:off x="640080" y="4343400"/>
            <a:ext cx="5669280" cy="822960"/>
          </a:xfrm>
          <a:prstGeom prst="rect">
            <a:avLst/>
          </a:prstGeom>
          <a:noFill/>
        </p:spPr>
        <p:txBody>
          <a:bodyPr wrap="square" lIns="0" rIns="0" tIns="0" bIns="0" anchor="t">
            <a:spAutoFit/>
          </a:bodyPr>
          <a:lstStyle/>
          <a:p>
            <a:pPr algn="l">
              <a:spcAft>
                <a:spcPts val="400"/>
              </a:spcAft>
            </a:pPr>
            <a:r>
              <a:rPr sz="1400" b="0" i="0">
                <a:solidFill>
                  <a:srgbClr val="CADCF2"/>
                </a:solidFill>
                <a:latin typeface="Calibri"/>
              </a:rPr>
              <a:t>A month-by-month travel-time model built from open data:</a:t>
            </a:r>
          </a:p>
          <a:p>
            <a:pPr algn="l">
              <a:spcAft>
                <a:spcPts val="400"/>
              </a:spcAft>
            </a:pPr>
            <a:r>
              <a:rPr sz="1400" b="0" i="0">
                <a:solidFill>
                  <a:srgbClr val="CADCF2"/>
                </a:solidFill>
                <a:latin typeface="Calibri"/>
              </a:rPr>
              <a:t>OpenStreetMap, WorldPop, CHIRPS rainfall and the Ministry of Health facility list</a:t>
            </a:r>
          </a:p>
        </p:txBody>
      </p:sp>
      <p:sp>
        <p:nvSpPr>
          <p:cNvPr id="6" name="TextBox 5"/>
          <p:cNvSpPr txBox="1"/>
          <p:nvPr/>
        </p:nvSpPr>
        <p:spPr>
          <a:xfrm>
            <a:off x="640080" y="5669280"/>
            <a:ext cx="5486400" cy="365760"/>
          </a:xfrm>
          <a:prstGeom prst="rect">
            <a:avLst/>
          </a:prstGeom>
          <a:noFill/>
        </p:spPr>
        <p:txBody>
          <a:bodyPr wrap="square" lIns="0" rIns="0" tIns="0" bIns="0" anchor="t">
            <a:spAutoFit/>
          </a:bodyPr>
          <a:lstStyle/>
          <a:p>
            <a:pPr algn="l"/>
            <a:r>
              <a:rPr sz="1400" b="1" i="0">
                <a:solidFill>
                  <a:srgbClr val="FFFFFF"/>
                </a:solidFill>
                <a:latin typeface="Calibri"/>
              </a:rPr>
              <a:t>Charles Gava  ·  2026</a:t>
            </a:r>
          </a:p>
        </p:txBody>
      </p:sp>
      <p:sp>
        <p:nvSpPr>
          <p:cNvPr id="7" name="Rounded Rectangle 6"/>
          <p:cNvSpPr/>
          <p:nvPr/>
        </p:nvSpPr>
        <p:spPr>
          <a:xfrm>
            <a:off x="7086600" y="685800"/>
            <a:ext cx="4480560" cy="5486400"/>
          </a:xfrm>
          <a:prstGeom prst="roundRect">
            <a:avLst>
              <a:gd name="adj" fmla="val 4000"/>
            </a:avLst>
          </a:prstGeom>
          <a:solidFill>
            <a:srgbClr val="FBF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m01_hospital_dry_wet.png"/>
          <p:cNvPicPr>
            <a:picLocks noChangeAspect="1"/>
          </p:cNvPicPr>
          <p:nvPr/>
        </p:nvPicPr>
        <p:blipFill>
          <a:blip r:embed="rId2"/>
          <a:srcRect l="53500" t="16000" r="10000" b="15500"/>
          <a:stretch>
            <a:fillRect/>
          </a:stretch>
        </p:blipFill>
        <p:spPr>
          <a:xfrm>
            <a:off x="7223760" y="1119890"/>
            <a:ext cx="4206240" cy="4252458"/>
          </a:xfrm>
          <a:prstGeom prst="rect">
            <a:avLst/>
          </a:prstGeom>
        </p:spPr>
      </p:pic>
      <p:sp>
        <p:nvSpPr>
          <p:cNvPr id="9" name="TextBox 8"/>
          <p:cNvSpPr txBox="1"/>
          <p:nvPr/>
        </p:nvSpPr>
        <p:spPr>
          <a:xfrm>
            <a:off x="7269480" y="5715000"/>
            <a:ext cx="4114800" cy="365760"/>
          </a:xfrm>
          <a:prstGeom prst="rect">
            <a:avLst/>
          </a:prstGeom>
          <a:noFill/>
        </p:spPr>
        <p:txBody>
          <a:bodyPr wrap="square" lIns="0" rIns="0" tIns="0" bIns="0" anchor="t">
            <a:spAutoFit/>
          </a:bodyPr>
          <a:lstStyle/>
          <a:p>
            <a:pPr algn="ctr"/>
            <a:r>
              <a:rPr sz="1100" b="0" i="1">
                <a:solidFill>
                  <a:srgbClr val="5B6573"/>
                </a:solidFill>
                <a:latin typeface="Calibri"/>
              </a:rPr>
              <a:t>Travel time to the nearest hospital on a wet 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BACKGROUND</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Roads, and the journeys on them, change with the seasons</a:t>
            </a:r>
          </a:p>
        </p:txBody>
      </p:sp>
      <p:sp>
        <p:nvSpPr>
          <p:cNvPr id="4" name="Oval 3"/>
          <p:cNvSpPr/>
          <p:nvPr/>
        </p:nvSpPr>
        <p:spPr>
          <a:xfrm>
            <a:off x="548640" y="173736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1</a:t>
            </a:r>
          </a:p>
        </p:txBody>
      </p:sp>
      <p:sp>
        <p:nvSpPr>
          <p:cNvPr id="5" name="TextBox 4"/>
          <p:cNvSpPr txBox="1"/>
          <p:nvPr/>
        </p:nvSpPr>
        <p:spPr>
          <a:xfrm>
            <a:off x="1280160" y="1691640"/>
            <a:ext cx="5577840" cy="365760"/>
          </a:xfrm>
          <a:prstGeom prst="rect">
            <a:avLst/>
          </a:prstGeom>
          <a:noFill/>
        </p:spPr>
        <p:txBody>
          <a:bodyPr wrap="square" lIns="0" rIns="0" tIns="0" bIns="0" anchor="t">
            <a:spAutoFit/>
          </a:bodyPr>
          <a:lstStyle/>
          <a:p>
            <a:pPr algn="l"/>
            <a:r>
              <a:rPr sz="1900" b="1" i="0">
                <a:solidFill>
                  <a:srgbClr val="0D2B52"/>
                </a:solidFill>
                <a:latin typeface="Cambria"/>
              </a:rPr>
              <a:t>Two rainy seasons a year</a:t>
            </a:r>
          </a:p>
        </p:txBody>
      </p:sp>
      <p:sp>
        <p:nvSpPr>
          <p:cNvPr id="6" name="TextBox 5"/>
          <p:cNvSpPr txBox="1"/>
          <p:nvPr/>
        </p:nvSpPr>
        <p:spPr>
          <a:xfrm>
            <a:off x="1280160" y="2103120"/>
            <a:ext cx="5577840" cy="914400"/>
          </a:xfrm>
          <a:prstGeom prst="rect">
            <a:avLst/>
          </a:prstGeom>
          <a:noFill/>
        </p:spPr>
        <p:txBody>
          <a:bodyPr wrap="square" lIns="0" rIns="0" tIns="0" bIns="0" anchor="t">
            <a:spAutoFit/>
          </a:bodyPr>
          <a:lstStyle/>
          <a:p>
            <a:pPr algn="l"/>
            <a:r>
              <a:rPr sz="1500" b="0" i="0">
                <a:solidFill>
                  <a:srgbClr val="1F2A37"/>
                </a:solidFill>
                <a:latin typeface="Calibri"/>
              </a:rPr>
              <a:t>The long rains peak around March to May and the short rains around September to November. Each brings runs of days wet enough to turn murram roads to mud.</a:t>
            </a:r>
          </a:p>
        </p:txBody>
      </p:sp>
      <p:sp>
        <p:nvSpPr>
          <p:cNvPr id="7" name="Oval 6"/>
          <p:cNvSpPr/>
          <p:nvPr/>
        </p:nvSpPr>
        <p:spPr>
          <a:xfrm>
            <a:off x="548640" y="320040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2</a:t>
            </a:r>
          </a:p>
        </p:txBody>
      </p:sp>
      <p:sp>
        <p:nvSpPr>
          <p:cNvPr id="8" name="TextBox 7"/>
          <p:cNvSpPr txBox="1"/>
          <p:nvPr/>
        </p:nvSpPr>
        <p:spPr>
          <a:xfrm>
            <a:off x="1280160" y="3154680"/>
            <a:ext cx="5577840" cy="365760"/>
          </a:xfrm>
          <a:prstGeom prst="rect">
            <a:avLst/>
          </a:prstGeom>
          <a:noFill/>
        </p:spPr>
        <p:txBody>
          <a:bodyPr wrap="square" lIns="0" rIns="0" tIns="0" bIns="0" anchor="t">
            <a:spAutoFit/>
          </a:bodyPr>
          <a:lstStyle/>
          <a:p>
            <a:pPr algn="l"/>
            <a:r>
              <a:rPr sz="1900" b="1" i="0">
                <a:solidFill>
                  <a:srgbClr val="0D2B52"/>
                </a:solidFill>
                <a:latin typeface="Cambria"/>
              </a:rPr>
              <a:t>A largely unpaved network</a:t>
            </a:r>
          </a:p>
        </p:txBody>
      </p:sp>
      <p:sp>
        <p:nvSpPr>
          <p:cNvPr id="9" name="TextBox 8"/>
          <p:cNvSpPr txBox="1"/>
          <p:nvPr/>
        </p:nvSpPr>
        <p:spPr>
          <a:xfrm>
            <a:off x="1280160" y="3566160"/>
            <a:ext cx="5577840" cy="914400"/>
          </a:xfrm>
          <a:prstGeom prst="rect">
            <a:avLst/>
          </a:prstGeom>
          <a:noFill/>
        </p:spPr>
        <p:txBody>
          <a:bodyPr wrap="square" lIns="0" rIns="0" tIns="0" bIns="0" anchor="t">
            <a:spAutoFit/>
          </a:bodyPr>
          <a:lstStyle/>
          <a:p>
            <a:pPr algn="l"/>
            <a:r>
              <a:rPr sz="1500" b="0" i="0">
                <a:solidFill>
                  <a:srgbClr val="1F2A37"/>
                </a:solidFill>
                <a:latin typeface="Calibri"/>
              </a:rPr>
              <a:t>Most rural roads are earth or gravel, and many cross rivers by fords rather than bridges. Wet earth roads lose much of their speed; a flooded ford can close a route entirely.</a:t>
            </a:r>
          </a:p>
        </p:txBody>
      </p:sp>
      <p:sp>
        <p:nvSpPr>
          <p:cNvPr id="10" name="Oval 9"/>
          <p:cNvSpPr/>
          <p:nvPr/>
        </p:nvSpPr>
        <p:spPr>
          <a:xfrm>
            <a:off x="548640" y="466344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3</a:t>
            </a:r>
          </a:p>
        </p:txBody>
      </p:sp>
      <p:sp>
        <p:nvSpPr>
          <p:cNvPr id="11" name="TextBox 10"/>
          <p:cNvSpPr txBox="1"/>
          <p:nvPr/>
        </p:nvSpPr>
        <p:spPr>
          <a:xfrm>
            <a:off x="1280160" y="4617720"/>
            <a:ext cx="5577840" cy="365760"/>
          </a:xfrm>
          <a:prstGeom prst="rect">
            <a:avLst/>
          </a:prstGeom>
          <a:noFill/>
        </p:spPr>
        <p:txBody>
          <a:bodyPr wrap="square" lIns="0" rIns="0" tIns="0" bIns="0" anchor="t">
            <a:spAutoFit/>
          </a:bodyPr>
          <a:lstStyle/>
          <a:p>
            <a:pPr algn="l"/>
            <a:r>
              <a:rPr sz="1900" b="1" i="0">
                <a:solidFill>
                  <a:srgbClr val="0D2B52"/>
                </a:solidFill>
                <a:latin typeface="Cambria"/>
              </a:rPr>
              <a:t>Many journeys are made on foot</a:t>
            </a:r>
          </a:p>
        </p:txBody>
      </p:sp>
      <p:sp>
        <p:nvSpPr>
          <p:cNvPr id="12" name="TextBox 11"/>
          <p:cNvSpPr txBox="1"/>
          <p:nvPr/>
        </p:nvSpPr>
        <p:spPr>
          <a:xfrm>
            <a:off x="1280160" y="5029200"/>
            <a:ext cx="5577840" cy="914400"/>
          </a:xfrm>
          <a:prstGeom prst="rect">
            <a:avLst/>
          </a:prstGeom>
          <a:noFill/>
        </p:spPr>
        <p:txBody>
          <a:bodyPr wrap="square" lIns="0" rIns="0" tIns="0" bIns="0" anchor="t">
            <a:spAutoFit/>
          </a:bodyPr>
          <a:lstStyle/>
          <a:p>
            <a:pPr algn="l"/>
            <a:r>
              <a:rPr sz="1500" b="0" i="0">
                <a:solidFill>
                  <a:srgbClr val="1F2A37"/>
                </a:solidFill>
                <a:latin typeface="Calibri"/>
              </a:rPr>
              <a:t>Where there is no vehicle or boda boda at hand, travel is on foot, and it is slowest exactly when paths are wet.</a:t>
            </a:r>
          </a:p>
        </p:txBody>
      </p:sp>
      <p:sp>
        <p:nvSpPr>
          <p:cNvPr id="13" name="Rounded Rectangle 12"/>
          <p:cNvSpPr/>
          <p:nvPr/>
        </p:nvSpPr>
        <p:spPr>
          <a:xfrm>
            <a:off x="7406640" y="1691640"/>
            <a:ext cx="4233672" cy="4206240"/>
          </a:xfrm>
          <a:prstGeom prst="roundRect">
            <a:avLst>
              <a:gd name="adj" fmla="val 5000"/>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2011680"/>
            <a:ext cx="3566160" cy="365760"/>
          </a:xfrm>
          <a:prstGeom prst="rect">
            <a:avLst/>
          </a:prstGeom>
          <a:noFill/>
        </p:spPr>
        <p:txBody>
          <a:bodyPr wrap="square" lIns="0" rIns="0" tIns="0" bIns="0" anchor="t">
            <a:spAutoFit/>
          </a:bodyPr>
          <a:lstStyle/>
          <a:p>
            <a:pPr algn="l"/>
            <a:r>
              <a:rPr sz="1200" b="1" i="0">
                <a:solidFill>
                  <a:srgbClr val="9DBFE6"/>
                </a:solidFill>
                <a:latin typeface="Calibri"/>
              </a:rPr>
              <a:t>THE GAP</a:t>
            </a:r>
          </a:p>
        </p:txBody>
      </p:sp>
      <p:sp>
        <p:nvSpPr>
          <p:cNvPr id="15" name="TextBox 14"/>
          <p:cNvSpPr txBox="1"/>
          <p:nvPr/>
        </p:nvSpPr>
        <p:spPr>
          <a:xfrm>
            <a:off x="7772400" y="2377440"/>
            <a:ext cx="3520440" cy="1737360"/>
          </a:xfrm>
          <a:prstGeom prst="rect">
            <a:avLst/>
          </a:prstGeom>
          <a:noFill/>
        </p:spPr>
        <p:txBody>
          <a:bodyPr wrap="square" lIns="0" rIns="0" tIns="0" bIns="0" anchor="t">
            <a:spAutoFit/>
          </a:bodyPr>
          <a:lstStyle/>
          <a:p>
            <a:pPr algn="l">
              <a:lnSpc>
                <a:spcPct val="105000"/>
              </a:lnSpc>
            </a:pPr>
            <a:r>
              <a:rPr sz="2100" b="0" i="0">
                <a:solidFill>
                  <a:srgbClr val="FFFFFF"/>
                </a:solidFill>
                <a:latin typeface="Cambria"/>
              </a:rPr>
              <a:t>Standard accessibility maps assume a single, dry-weather speed for each road, all year round.</a:t>
            </a:r>
          </a:p>
        </p:txBody>
      </p:sp>
      <p:sp>
        <p:nvSpPr>
          <p:cNvPr id="16" name="TextBox 15"/>
          <p:cNvSpPr txBox="1"/>
          <p:nvPr/>
        </p:nvSpPr>
        <p:spPr>
          <a:xfrm>
            <a:off x="7772400" y="4160520"/>
            <a:ext cx="3520440" cy="1554480"/>
          </a:xfrm>
          <a:prstGeom prst="rect">
            <a:avLst/>
          </a:prstGeom>
          <a:noFill/>
        </p:spPr>
        <p:txBody>
          <a:bodyPr wrap="square" lIns="0" rIns="0" tIns="0" bIns="0" anchor="t">
            <a:spAutoFit/>
          </a:bodyPr>
          <a:lstStyle/>
          <a:p>
            <a:pPr algn="l"/>
            <a:r>
              <a:rPr sz="1400" b="0" i="0">
                <a:solidFill>
                  <a:srgbClr val="CADCF2"/>
                </a:solidFill>
                <a:latin typeface="Calibri"/>
              </a:rPr>
              <a:t>They cannot say how many people lose timely access in the wet months, where, or whether the loss falls evenly. That is what planners need to schedule maintenance, outreach and bridges.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WHAT THIS STUDY ASKS</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Research problem</a:t>
            </a:r>
          </a:p>
        </p:txBody>
      </p:sp>
      <p:sp>
        <p:nvSpPr>
          <p:cNvPr id="4" name="Rounded Rectangle 3"/>
          <p:cNvSpPr/>
          <p:nvPr/>
        </p:nvSpPr>
        <p:spPr>
          <a:xfrm>
            <a:off x="548640" y="1600200"/>
            <a:ext cx="5120640" cy="452628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4480560" cy="365760"/>
          </a:xfrm>
          <a:prstGeom prst="rect">
            <a:avLst/>
          </a:prstGeom>
          <a:noFill/>
        </p:spPr>
        <p:txBody>
          <a:bodyPr wrap="square" lIns="0" rIns="0" tIns="0" bIns="0" anchor="t">
            <a:spAutoFit/>
          </a:bodyPr>
          <a:lstStyle/>
          <a:p>
            <a:pPr algn="l"/>
            <a:r>
              <a:rPr sz="1200" b="1" i="0">
                <a:solidFill>
                  <a:srgbClr val="B5451B"/>
                </a:solidFill>
                <a:latin typeface="Calibri"/>
              </a:rPr>
              <a:t>MAIN QUESTION</a:t>
            </a:r>
          </a:p>
        </p:txBody>
      </p:sp>
      <p:sp>
        <p:nvSpPr>
          <p:cNvPr id="6" name="TextBox 5"/>
          <p:cNvSpPr txBox="1"/>
          <p:nvPr/>
        </p:nvSpPr>
        <p:spPr>
          <a:xfrm>
            <a:off x="914400" y="2331720"/>
            <a:ext cx="4434840" cy="2286000"/>
          </a:xfrm>
          <a:prstGeom prst="rect">
            <a:avLst/>
          </a:prstGeom>
          <a:noFill/>
        </p:spPr>
        <p:txBody>
          <a:bodyPr wrap="square" lIns="0" rIns="0" tIns="0" bIns="0" anchor="t">
            <a:spAutoFit/>
          </a:bodyPr>
          <a:lstStyle/>
          <a:p>
            <a:pPr algn="l">
              <a:lnSpc>
                <a:spcPct val="105000"/>
              </a:lnSpc>
            </a:pPr>
            <a:r>
              <a:rPr sz="2400" b="1" i="0">
                <a:solidFill>
                  <a:srgbClr val="0D2B52"/>
                </a:solidFill>
                <a:latin typeface="Cambria"/>
              </a:rPr>
              <a:t>How much do Uganda's rainy seasons lengthen journeys to hospitals, health centres, schools, markets and towns?</a:t>
            </a:r>
          </a:p>
        </p:txBody>
      </p:sp>
      <p:sp>
        <p:nvSpPr>
          <p:cNvPr id="7" name="TextBox 6"/>
          <p:cNvSpPr txBox="1"/>
          <p:nvPr/>
        </p:nvSpPr>
        <p:spPr>
          <a:xfrm>
            <a:off x="914400" y="4572000"/>
            <a:ext cx="4434840" cy="1371600"/>
          </a:xfrm>
          <a:prstGeom prst="rect">
            <a:avLst/>
          </a:prstGeom>
          <a:noFill/>
        </p:spPr>
        <p:txBody>
          <a:bodyPr wrap="square" lIns="0" rIns="0" tIns="0" bIns="0" anchor="t">
            <a:spAutoFit/>
          </a:bodyPr>
          <a:lstStyle/>
          <a:p>
            <a:pPr algn="l"/>
            <a:r>
              <a:rPr sz="1400" b="1" i="0">
                <a:solidFill>
                  <a:srgbClr val="1F2A37"/>
                </a:solidFill>
                <a:latin typeface="Calibri"/>
              </a:rPr>
              <a:t>Benchmark: </a:t>
            </a:r>
            <a:r>
              <a:rPr sz="1400" b="0" i="0">
                <a:solidFill>
                  <a:srgbClr val="5B6573"/>
                </a:solidFill>
                <a:latin typeface="Calibri"/>
              </a:rPr>
              <a:t>the WHO / Lancet Commission target is surgical and obstetric care within 2 hours. We also use a 1-hour threshold for hospitals.</a:t>
            </a:r>
          </a:p>
        </p:txBody>
      </p:sp>
      <p:sp>
        <p:nvSpPr>
          <p:cNvPr id="8" name="Oval 7"/>
          <p:cNvSpPr/>
          <p:nvPr/>
        </p:nvSpPr>
        <p:spPr>
          <a:xfrm>
            <a:off x="6126480" y="1691640"/>
            <a:ext cx="502920" cy="50292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1</a:t>
            </a:r>
          </a:p>
        </p:txBody>
      </p:sp>
      <p:sp>
        <p:nvSpPr>
          <p:cNvPr id="9" name="TextBox 8"/>
          <p:cNvSpPr txBox="1"/>
          <p:nvPr/>
        </p:nvSpPr>
        <p:spPr>
          <a:xfrm>
            <a:off x="6858000" y="1600200"/>
            <a:ext cx="4754880" cy="365760"/>
          </a:xfrm>
          <a:prstGeom prst="rect">
            <a:avLst/>
          </a:prstGeom>
          <a:noFill/>
        </p:spPr>
        <p:txBody>
          <a:bodyPr wrap="square" lIns="0" rIns="0" tIns="0" bIns="0" anchor="t">
            <a:spAutoFit/>
          </a:bodyPr>
          <a:lstStyle/>
          <a:p>
            <a:pPr algn="l"/>
            <a:r>
              <a:rPr sz="1900" b="1" i="0">
                <a:solidFill>
                  <a:srgbClr val="0D2B52"/>
                </a:solidFill>
                <a:latin typeface="Cambria"/>
              </a:rPr>
              <a:t>How much?</a:t>
            </a:r>
          </a:p>
        </p:txBody>
      </p:sp>
      <p:sp>
        <p:nvSpPr>
          <p:cNvPr id="10" name="TextBox 9"/>
          <p:cNvSpPr txBox="1"/>
          <p:nvPr/>
        </p:nvSpPr>
        <p:spPr>
          <a:xfrm>
            <a:off x="6858000" y="1984248"/>
            <a:ext cx="4754880" cy="685800"/>
          </a:xfrm>
          <a:prstGeom prst="rect">
            <a:avLst/>
          </a:prstGeom>
          <a:noFill/>
        </p:spPr>
        <p:txBody>
          <a:bodyPr wrap="square" lIns="0" rIns="0" tIns="0" bIns="0" anchor="t">
            <a:spAutoFit/>
          </a:bodyPr>
          <a:lstStyle/>
          <a:p>
            <a:pPr algn="l"/>
            <a:r>
              <a:rPr sz="1400" b="0" i="0">
                <a:solidFill>
                  <a:srgbClr val="1F2A37"/>
                </a:solidFill>
                <a:latin typeface="Calibri"/>
              </a:rPr>
              <a:t>How many more people fall beyond 1 hour (or 2 hours) of a service when it rains?</a:t>
            </a:r>
          </a:p>
        </p:txBody>
      </p:sp>
      <p:sp>
        <p:nvSpPr>
          <p:cNvPr id="11" name="Oval 10"/>
          <p:cNvSpPr/>
          <p:nvPr/>
        </p:nvSpPr>
        <p:spPr>
          <a:xfrm>
            <a:off x="6126480" y="2852928"/>
            <a:ext cx="502920" cy="50292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2</a:t>
            </a:r>
          </a:p>
        </p:txBody>
      </p:sp>
      <p:sp>
        <p:nvSpPr>
          <p:cNvPr id="12" name="TextBox 11"/>
          <p:cNvSpPr txBox="1"/>
          <p:nvPr/>
        </p:nvSpPr>
        <p:spPr>
          <a:xfrm>
            <a:off x="6858000" y="2761488"/>
            <a:ext cx="4754880" cy="365760"/>
          </a:xfrm>
          <a:prstGeom prst="rect">
            <a:avLst/>
          </a:prstGeom>
          <a:noFill/>
        </p:spPr>
        <p:txBody>
          <a:bodyPr wrap="square" lIns="0" rIns="0" tIns="0" bIns="0" anchor="t">
            <a:spAutoFit/>
          </a:bodyPr>
          <a:lstStyle/>
          <a:p>
            <a:pPr algn="l"/>
            <a:r>
              <a:rPr sz="1900" b="1" i="0">
                <a:solidFill>
                  <a:srgbClr val="0D2B52"/>
                </a:solidFill>
                <a:latin typeface="Cambria"/>
              </a:rPr>
              <a:t>When?</a:t>
            </a:r>
          </a:p>
        </p:txBody>
      </p:sp>
      <p:sp>
        <p:nvSpPr>
          <p:cNvPr id="13" name="TextBox 12"/>
          <p:cNvSpPr txBox="1"/>
          <p:nvPr/>
        </p:nvSpPr>
        <p:spPr>
          <a:xfrm>
            <a:off x="6858000" y="3145536"/>
            <a:ext cx="4754880" cy="685800"/>
          </a:xfrm>
          <a:prstGeom prst="rect">
            <a:avLst/>
          </a:prstGeom>
          <a:noFill/>
        </p:spPr>
        <p:txBody>
          <a:bodyPr wrap="square" lIns="0" rIns="0" tIns="0" bIns="0" anchor="t">
            <a:spAutoFit/>
          </a:bodyPr>
          <a:lstStyle/>
          <a:p>
            <a:pPr algn="l"/>
            <a:r>
              <a:rPr sz="1400" b="0" i="0">
                <a:solidFill>
                  <a:srgbClr val="1F2A37"/>
                </a:solidFill>
                <a:latin typeface="Calibri"/>
              </a:rPr>
              <a:t>Which months are worst, and has the pattern shifted since 1981–2000?</a:t>
            </a:r>
          </a:p>
        </p:txBody>
      </p:sp>
      <p:sp>
        <p:nvSpPr>
          <p:cNvPr id="14" name="Oval 13"/>
          <p:cNvSpPr/>
          <p:nvPr/>
        </p:nvSpPr>
        <p:spPr>
          <a:xfrm>
            <a:off x="6126480" y="4014215"/>
            <a:ext cx="502920" cy="50292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3</a:t>
            </a:r>
          </a:p>
        </p:txBody>
      </p:sp>
      <p:sp>
        <p:nvSpPr>
          <p:cNvPr id="15" name="TextBox 14"/>
          <p:cNvSpPr txBox="1"/>
          <p:nvPr/>
        </p:nvSpPr>
        <p:spPr>
          <a:xfrm>
            <a:off x="6858000" y="3922776"/>
            <a:ext cx="4754880" cy="365760"/>
          </a:xfrm>
          <a:prstGeom prst="rect">
            <a:avLst/>
          </a:prstGeom>
          <a:noFill/>
        </p:spPr>
        <p:txBody>
          <a:bodyPr wrap="square" lIns="0" rIns="0" tIns="0" bIns="0" anchor="t">
            <a:spAutoFit/>
          </a:bodyPr>
          <a:lstStyle/>
          <a:p>
            <a:pPr algn="l"/>
            <a:r>
              <a:rPr sz="1900" b="1" i="0">
                <a:solidFill>
                  <a:srgbClr val="0D2B52"/>
                </a:solidFill>
                <a:latin typeface="Cambria"/>
              </a:rPr>
              <a:t>Where?</a:t>
            </a:r>
          </a:p>
        </p:txBody>
      </p:sp>
      <p:sp>
        <p:nvSpPr>
          <p:cNvPr id="16" name="TextBox 15"/>
          <p:cNvSpPr txBox="1"/>
          <p:nvPr/>
        </p:nvSpPr>
        <p:spPr>
          <a:xfrm>
            <a:off x="6858000" y="4306824"/>
            <a:ext cx="4754880" cy="685800"/>
          </a:xfrm>
          <a:prstGeom prst="rect">
            <a:avLst/>
          </a:prstGeom>
          <a:noFill/>
        </p:spPr>
        <p:txBody>
          <a:bodyPr wrap="square" lIns="0" rIns="0" tIns="0" bIns="0" anchor="t">
            <a:spAutoFit/>
          </a:bodyPr>
          <a:lstStyle/>
          <a:p>
            <a:pPr algn="l"/>
            <a:r>
              <a:rPr sz="1400" b="0" i="0">
                <a:solidFill>
                  <a:srgbClr val="1F2A37"/>
                </a:solidFill>
                <a:latin typeface="Calibri"/>
              </a:rPr>
              <a:t>Which districts, sub-counties, hospital catchments and river crossings?</a:t>
            </a:r>
          </a:p>
        </p:txBody>
      </p:sp>
      <p:sp>
        <p:nvSpPr>
          <p:cNvPr id="17" name="Oval 16"/>
          <p:cNvSpPr/>
          <p:nvPr/>
        </p:nvSpPr>
        <p:spPr>
          <a:xfrm>
            <a:off x="6126480" y="5175504"/>
            <a:ext cx="502920" cy="50292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4</a:t>
            </a:r>
          </a:p>
        </p:txBody>
      </p:sp>
      <p:sp>
        <p:nvSpPr>
          <p:cNvPr id="18" name="TextBox 17"/>
          <p:cNvSpPr txBox="1"/>
          <p:nvPr/>
        </p:nvSpPr>
        <p:spPr>
          <a:xfrm>
            <a:off x="6858000" y="5084064"/>
            <a:ext cx="4754880" cy="365760"/>
          </a:xfrm>
          <a:prstGeom prst="rect">
            <a:avLst/>
          </a:prstGeom>
          <a:noFill/>
        </p:spPr>
        <p:txBody>
          <a:bodyPr wrap="square" lIns="0" rIns="0" tIns="0" bIns="0" anchor="t">
            <a:spAutoFit/>
          </a:bodyPr>
          <a:lstStyle/>
          <a:p>
            <a:pPr algn="l"/>
            <a:r>
              <a:rPr sz="1900" b="1" i="0">
                <a:solidFill>
                  <a:srgbClr val="0D2B52"/>
                </a:solidFill>
                <a:latin typeface="Cambria"/>
              </a:rPr>
              <a:t>For whom?</a:t>
            </a:r>
          </a:p>
        </p:txBody>
      </p:sp>
      <p:sp>
        <p:nvSpPr>
          <p:cNvPr id="19" name="TextBox 18"/>
          <p:cNvSpPr txBox="1"/>
          <p:nvPr/>
        </p:nvSpPr>
        <p:spPr>
          <a:xfrm>
            <a:off x="6858000" y="5468112"/>
            <a:ext cx="4754880" cy="685800"/>
          </a:xfrm>
          <a:prstGeom prst="rect">
            <a:avLst/>
          </a:prstGeom>
          <a:noFill/>
        </p:spPr>
        <p:txBody>
          <a:bodyPr wrap="square" lIns="0" rIns="0" tIns="0" bIns="0" anchor="t">
            <a:spAutoFit/>
          </a:bodyPr>
          <a:lstStyle/>
          <a:p>
            <a:pPr algn="l"/>
            <a:r>
              <a:rPr sz="1400" b="0" i="0">
                <a:solidFill>
                  <a:srgbClr val="1F2A37"/>
                </a:solidFill>
                <a:latin typeface="Calibri"/>
              </a:rPr>
              <a:t>Women of reproductive age, children under 5, the poorest fifth, refugee-hosting areas, people on foot.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METHODOLOGY · INPUTS</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Data: all public, no new surveys</a:t>
            </a:r>
          </a:p>
        </p:txBody>
      </p:sp>
      <p:sp>
        <p:nvSpPr>
          <p:cNvPr id="4" name="Rounded Rectangle 3"/>
          <p:cNvSpPr/>
          <p:nvPr/>
        </p:nvSpPr>
        <p:spPr>
          <a:xfrm>
            <a:off x="548640" y="1600200"/>
            <a:ext cx="3547872" cy="214884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874519"/>
            <a:ext cx="411480" cy="41148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1</a:t>
            </a:r>
          </a:p>
        </p:txBody>
      </p:sp>
      <p:sp>
        <p:nvSpPr>
          <p:cNvPr id="6" name="TextBox 5"/>
          <p:cNvSpPr txBox="1"/>
          <p:nvPr/>
        </p:nvSpPr>
        <p:spPr>
          <a:xfrm>
            <a:off x="1371600" y="1874519"/>
            <a:ext cx="2542032" cy="411480"/>
          </a:xfrm>
          <a:prstGeom prst="rect">
            <a:avLst/>
          </a:prstGeom>
          <a:noFill/>
        </p:spPr>
        <p:txBody>
          <a:bodyPr wrap="square" lIns="0" rIns="0" tIns="0" bIns="0" anchor="ctr">
            <a:spAutoFit/>
          </a:bodyPr>
          <a:lstStyle/>
          <a:p>
            <a:pPr algn="l"/>
            <a:r>
              <a:rPr sz="1800" b="1" i="0">
                <a:solidFill>
                  <a:srgbClr val="0D2B52"/>
                </a:solidFill>
                <a:latin typeface="Cambria"/>
              </a:rPr>
              <a:t>Roads</a:t>
            </a:r>
          </a:p>
        </p:txBody>
      </p:sp>
      <p:sp>
        <p:nvSpPr>
          <p:cNvPr id="7" name="TextBox 6"/>
          <p:cNvSpPr txBox="1"/>
          <p:nvPr/>
        </p:nvSpPr>
        <p:spPr>
          <a:xfrm>
            <a:off x="822959" y="2441448"/>
            <a:ext cx="3044952" cy="365760"/>
          </a:xfrm>
          <a:prstGeom prst="rect">
            <a:avLst/>
          </a:prstGeom>
          <a:noFill/>
        </p:spPr>
        <p:txBody>
          <a:bodyPr wrap="square" lIns="0" rIns="0" tIns="0" bIns="0" anchor="t">
            <a:spAutoFit/>
          </a:bodyPr>
          <a:lstStyle/>
          <a:p>
            <a:pPr algn="l"/>
            <a:r>
              <a:rPr sz="1300" b="1" i="0">
                <a:solidFill>
                  <a:srgbClr val="B5451B"/>
                </a:solidFill>
                <a:latin typeface="Calibri"/>
              </a:rPr>
              <a:t>OpenStreetMap</a:t>
            </a:r>
          </a:p>
        </p:txBody>
      </p:sp>
      <p:sp>
        <p:nvSpPr>
          <p:cNvPr id="8" name="TextBox 7"/>
          <p:cNvSpPr txBox="1"/>
          <p:nvPr/>
        </p:nvSpPr>
        <p:spPr>
          <a:xfrm>
            <a:off x="822959" y="2788920"/>
            <a:ext cx="3044952" cy="868680"/>
          </a:xfrm>
          <a:prstGeom prst="rect">
            <a:avLst/>
          </a:prstGeom>
          <a:noFill/>
        </p:spPr>
        <p:txBody>
          <a:bodyPr wrap="square" lIns="0" rIns="0" tIns="0" bIns="0" anchor="t">
            <a:spAutoFit/>
          </a:bodyPr>
          <a:lstStyle/>
          <a:p>
            <a:pPr algn="l"/>
            <a:r>
              <a:rPr sz="1300" b="0" i="0">
                <a:solidFill>
                  <a:srgbClr val="1F2A37"/>
                </a:solidFill>
                <a:latin typeface="Calibri"/>
              </a:rPr>
              <a:t>~690,000 segments with class, surface (where tagged), bridges and fords</a:t>
            </a:r>
          </a:p>
        </p:txBody>
      </p:sp>
      <p:sp>
        <p:nvSpPr>
          <p:cNvPr id="9" name="Rounded Rectangle 8"/>
          <p:cNvSpPr/>
          <p:nvPr/>
        </p:nvSpPr>
        <p:spPr>
          <a:xfrm>
            <a:off x="4306824" y="1600200"/>
            <a:ext cx="3547872" cy="214884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81144" y="1874519"/>
            <a:ext cx="411480" cy="41148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2</a:t>
            </a:r>
          </a:p>
        </p:txBody>
      </p:sp>
      <p:sp>
        <p:nvSpPr>
          <p:cNvPr id="11" name="TextBox 10"/>
          <p:cNvSpPr txBox="1"/>
          <p:nvPr/>
        </p:nvSpPr>
        <p:spPr>
          <a:xfrm>
            <a:off x="5129784" y="1874519"/>
            <a:ext cx="2542032" cy="411480"/>
          </a:xfrm>
          <a:prstGeom prst="rect">
            <a:avLst/>
          </a:prstGeom>
          <a:noFill/>
        </p:spPr>
        <p:txBody>
          <a:bodyPr wrap="square" lIns="0" rIns="0" tIns="0" bIns="0" anchor="ctr">
            <a:spAutoFit/>
          </a:bodyPr>
          <a:lstStyle/>
          <a:p>
            <a:pPr algn="l"/>
            <a:r>
              <a:rPr sz="1800" b="1" i="0">
                <a:solidFill>
                  <a:srgbClr val="0D2B52"/>
                </a:solidFill>
                <a:latin typeface="Cambria"/>
              </a:rPr>
              <a:t>Destinations</a:t>
            </a:r>
          </a:p>
        </p:txBody>
      </p:sp>
      <p:sp>
        <p:nvSpPr>
          <p:cNvPr id="12" name="TextBox 11"/>
          <p:cNvSpPr txBox="1"/>
          <p:nvPr/>
        </p:nvSpPr>
        <p:spPr>
          <a:xfrm>
            <a:off x="4581144" y="2441448"/>
            <a:ext cx="3044952" cy="365760"/>
          </a:xfrm>
          <a:prstGeom prst="rect">
            <a:avLst/>
          </a:prstGeom>
          <a:noFill/>
        </p:spPr>
        <p:txBody>
          <a:bodyPr wrap="square" lIns="0" rIns="0" tIns="0" bIns="0" anchor="t">
            <a:spAutoFit/>
          </a:bodyPr>
          <a:lstStyle/>
          <a:p>
            <a:pPr algn="l"/>
            <a:r>
              <a:rPr sz="1300" b="1" i="0">
                <a:solidFill>
                  <a:srgbClr val="B5451B"/>
                </a:solidFill>
                <a:latin typeface="Calibri"/>
              </a:rPr>
              <a:t>Ministry of Health list (Maina et al. 2019)</a:t>
            </a:r>
          </a:p>
        </p:txBody>
      </p:sp>
      <p:sp>
        <p:nvSpPr>
          <p:cNvPr id="13" name="TextBox 12"/>
          <p:cNvSpPr txBox="1"/>
          <p:nvPr/>
        </p:nvSpPr>
        <p:spPr>
          <a:xfrm>
            <a:off x="4581144" y="2788920"/>
            <a:ext cx="3044952" cy="868680"/>
          </a:xfrm>
          <a:prstGeom prst="rect">
            <a:avLst/>
          </a:prstGeom>
          <a:noFill/>
        </p:spPr>
        <p:txBody>
          <a:bodyPr wrap="square" lIns="0" rIns="0" tIns="0" bIns="0" anchor="t">
            <a:spAutoFit/>
          </a:bodyPr>
          <a:lstStyle/>
          <a:p>
            <a:pPr algn="l"/>
            <a:r>
              <a:rPr sz="1300" b="0" i="0">
                <a:solidFill>
                  <a:srgbClr val="1F2A37"/>
                </a:solidFill>
                <a:latin typeface="Calibri"/>
              </a:rPr>
              <a:t>Public and not-for-profit facilities by level; schools, markets and towns from OSM</a:t>
            </a:r>
          </a:p>
        </p:txBody>
      </p:sp>
      <p:sp>
        <p:nvSpPr>
          <p:cNvPr id="14" name="Rounded Rectangle 13"/>
          <p:cNvSpPr/>
          <p:nvPr/>
        </p:nvSpPr>
        <p:spPr>
          <a:xfrm>
            <a:off x="8065008" y="1600200"/>
            <a:ext cx="3547872" cy="214884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339328" y="1874519"/>
            <a:ext cx="411480" cy="41148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3</a:t>
            </a:r>
          </a:p>
        </p:txBody>
      </p:sp>
      <p:sp>
        <p:nvSpPr>
          <p:cNvPr id="16" name="TextBox 15"/>
          <p:cNvSpPr txBox="1"/>
          <p:nvPr/>
        </p:nvSpPr>
        <p:spPr>
          <a:xfrm>
            <a:off x="8887968" y="1874519"/>
            <a:ext cx="2542032" cy="411480"/>
          </a:xfrm>
          <a:prstGeom prst="rect">
            <a:avLst/>
          </a:prstGeom>
          <a:noFill/>
        </p:spPr>
        <p:txBody>
          <a:bodyPr wrap="square" lIns="0" rIns="0" tIns="0" bIns="0" anchor="ctr">
            <a:spAutoFit/>
          </a:bodyPr>
          <a:lstStyle/>
          <a:p>
            <a:pPr algn="l"/>
            <a:r>
              <a:rPr sz="1800" b="1" i="0">
                <a:solidFill>
                  <a:srgbClr val="0D2B52"/>
                </a:solidFill>
                <a:latin typeface="Cambria"/>
              </a:rPr>
              <a:t>Population</a:t>
            </a:r>
          </a:p>
        </p:txBody>
      </p:sp>
      <p:sp>
        <p:nvSpPr>
          <p:cNvPr id="17" name="TextBox 16"/>
          <p:cNvSpPr txBox="1"/>
          <p:nvPr/>
        </p:nvSpPr>
        <p:spPr>
          <a:xfrm>
            <a:off x="8339328" y="2441448"/>
            <a:ext cx="3044952" cy="365760"/>
          </a:xfrm>
          <a:prstGeom prst="rect">
            <a:avLst/>
          </a:prstGeom>
          <a:noFill/>
        </p:spPr>
        <p:txBody>
          <a:bodyPr wrap="square" lIns="0" rIns="0" tIns="0" bIns="0" anchor="t">
            <a:spAutoFit/>
          </a:bodyPr>
          <a:lstStyle/>
          <a:p>
            <a:pPr algn="l"/>
            <a:r>
              <a:rPr sz="1300" b="1" i="0">
                <a:solidFill>
                  <a:srgbClr val="B5451B"/>
                </a:solidFill>
                <a:latin typeface="Calibri"/>
              </a:rPr>
              <a:t>WorldPop 2020, 1 km grid</a:t>
            </a:r>
          </a:p>
        </p:txBody>
      </p:sp>
      <p:sp>
        <p:nvSpPr>
          <p:cNvPr id="18" name="TextBox 17"/>
          <p:cNvSpPr txBox="1"/>
          <p:nvPr/>
        </p:nvSpPr>
        <p:spPr>
          <a:xfrm>
            <a:off x="8339328" y="2788920"/>
            <a:ext cx="3044952" cy="868680"/>
          </a:xfrm>
          <a:prstGeom prst="rect">
            <a:avLst/>
          </a:prstGeom>
          <a:noFill/>
        </p:spPr>
        <p:txBody>
          <a:bodyPr wrap="square" lIns="0" rIns="0" tIns="0" bIns="0" anchor="t">
            <a:spAutoFit/>
          </a:bodyPr>
          <a:lstStyle/>
          <a:p>
            <a:pPr algn="l"/>
            <a:r>
              <a:rPr sz="1300" b="0" i="0">
                <a:solidFill>
                  <a:srgbClr val="1F2A37"/>
                </a:solidFill>
                <a:latin typeface="Calibri"/>
              </a:rPr>
              <a:t>~244,000 populated cells, with age and sex structure for women 15–49 and children under 5</a:t>
            </a:r>
          </a:p>
        </p:txBody>
      </p:sp>
      <p:sp>
        <p:nvSpPr>
          <p:cNvPr id="19" name="Rounded Rectangle 18"/>
          <p:cNvSpPr/>
          <p:nvPr/>
        </p:nvSpPr>
        <p:spPr>
          <a:xfrm>
            <a:off x="548640" y="4023360"/>
            <a:ext cx="3547872" cy="214884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59" y="4297680"/>
            <a:ext cx="411480" cy="41148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4</a:t>
            </a:r>
          </a:p>
        </p:txBody>
      </p:sp>
      <p:sp>
        <p:nvSpPr>
          <p:cNvPr id="21" name="TextBox 20"/>
          <p:cNvSpPr txBox="1"/>
          <p:nvPr/>
        </p:nvSpPr>
        <p:spPr>
          <a:xfrm>
            <a:off x="1371600" y="4297680"/>
            <a:ext cx="2542032" cy="411480"/>
          </a:xfrm>
          <a:prstGeom prst="rect">
            <a:avLst/>
          </a:prstGeom>
          <a:noFill/>
        </p:spPr>
        <p:txBody>
          <a:bodyPr wrap="square" lIns="0" rIns="0" tIns="0" bIns="0" anchor="ctr">
            <a:spAutoFit/>
          </a:bodyPr>
          <a:lstStyle/>
          <a:p>
            <a:pPr algn="l"/>
            <a:r>
              <a:rPr sz="1800" b="1" i="0">
                <a:solidFill>
                  <a:srgbClr val="0D2B52"/>
                </a:solidFill>
                <a:latin typeface="Cambria"/>
              </a:rPr>
              <a:t>Rainfall</a:t>
            </a:r>
          </a:p>
        </p:txBody>
      </p:sp>
      <p:sp>
        <p:nvSpPr>
          <p:cNvPr id="22" name="TextBox 21"/>
          <p:cNvSpPr txBox="1"/>
          <p:nvPr/>
        </p:nvSpPr>
        <p:spPr>
          <a:xfrm>
            <a:off x="822959" y="4864608"/>
            <a:ext cx="3044952" cy="365760"/>
          </a:xfrm>
          <a:prstGeom prst="rect">
            <a:avLst/>
          </a:prstGeom>
          <a:noFill/>
        </p:spPr>
        <p:txBody>
          <a:bodyPr wrap="square" lIns="0" rIns="0" tIns="0" bIns="0" anchor="t">
            <a:spAutoFit/>
          </a:bodyPr>
          <a:lstStyle/>
          <a:p>
            <a:pPr algn="l"/>
            <a:r>
              <a:rPr sz="1300" b="1" i="0">
                <a:solidFill>
                  <a:srgbClr val="B5451B"/>
                </a:solidFill>
                <a:latin typeface="Calibri"/>
              </a:rPr>
              <a:t>CHIRPS daily, 1981–2025</a:t>
            </a:r>
          </a:p>
        </p:txBody>
      </p:sp>
      <p:sp>
        <p:nvSpPr>
          <p:cNvPr id="23" name="TextBox 22"/>
          <p:cNvSpPr txBox="1"/>
          <p:nvPr/>
        </p:nvSpPr>
        <p:spPr>
          <a:xfrm>
            <a:off x="822959" y="5212080"/>
            <a:ext cx="3044952" cy="868680"/>
          </a:xfrm>
          <a:prstGeom prst="rect">
            <a:avLst/>
          </a:prstGeom>
          <a:noFill/>
        </p:spPr>
        <p:txBody>
          <a:bodyPr wrap="square" lIns="0" rIns="0" tIns="0" bIns="0" anchor="t">
            <a:spAutoFit/>
          </a:bodyPr>
          <a:lstStyle/>
          <a:p>
            <a:pPr algn="l"/>
            <a:r>
              <a:rPr sz="1300" b="0" i="0">
                <a:solidFill>
                  <a:srgbClr val="1F2A37"/>
                </a:solidFill>
                <a:latin typeface="Calibri"/>
              </a:rPr>
              <a:t>45 years of satellite rainfall give each cell's share of wet days in each month</a:t>
            </a:r>
          </a:p>
        </p:txBody>
      </p:sp>
      <p:sp>
        <p:nvSpPr>
          <p:cNvPr id="24" name="Rounded Rectangle 23"/>
          <p:cNvSpPr/>
          <p:nvPr/>
        </p:nvSpPr>
        <p:spPr>
          <a:xfrm>
            <a:off x="4306824" y="4023360"/>
            <a:ext cx="3547872" cy="214884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81144" y="4297680"/>
            <a:ext cx="411480" cy="41148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5</a:t>
            </a:r>
          </a:p>
        </p:txBody>
      </p:sp>
      <p:sp>
        <p:nvSpPr>
          <p:cNvPr id="26" name="TextBox 25"/>
          <p:cNvSpPr txBox="1"/>
          <p:nvPr/>
        </p:nvSpPr>
        <p:spPr>
          <a:xfrm>
            <a:off x="5129784" y="4297680"/>
            <a:ext cx="2542032" cy="411480"/>
          </a:xfrm>
          <a:prstGeom prst="rect">
            <a:avLst/>
          </a:prstGeom>
          <a:noFill/>
        </p:spPr>
        <p:txBody>
          <a:bodyPr wrap="square" lIns="0" rIns="0" tIns="0" bIns="0" anchor="ctr">
            <a:spAutoFit/>
          </a:bodyPr>
          <a:lstStyle/>
          <a:p>
            <a:pPr algn="l"/>
            <a:r>
              <a:rPr sz="1800" b="1" i="0">
                <a:solidFill>
                  <a:srgbClr val="0D2B52"/>
                </a:solidFill>
                <a:latin typeface="Cambria"/>
              </a:rPr>
              <a:t>Wealth &amp; boundaries</a:t>
            </a:r>
          </a:p>
        </p:txBody>
      </p:sp>
      <p:sp>
        <p:nvSpPr>
          <p:cNvPr id="27" name="TextBox 26"/>
          <p:cNvSpPr txBox="1"/>
          <p:nvPr/>
        </p:nvSpPr>
        <p:spPr>
          <a:xfrm>
            <a:off x="4581144" y="4864608"/>
            <a:ext cx="3044952" cy="365760"/>
          </a:xfrm>
          <a:prstGeom prst="rect">
            <a:avLst/>
          </a:prstGeom>
          <a:noFill/>
        </p:spPr>
        <p:txBody>
          <a:bodyPr wrap="square" lIns="0" rIns="0" tIns="0" bIns="0" anchor="t">
            <a:spAutoFit/>
          </a:bodyPr>
          <a:lstStyle/>
          <a:p>
            <a:pPr algn="l"/>
            <a:r>
              <a:rPr sz="1300" b="1" i="0">
                <a:solidFill>
                  <a:srgbClr val="B5451B"/>
                </a:solidFill>
                <a:latin typeface="Calibri"/>
              </a:rPr>
              <a:t>Meta Relative Wealth Index; HDX</a:t>
            </a:r>
          </a:p>
        </p:txBody>
      </p:sp>
      <p:sp>
        <p:nvSpPr>
          <p:cNvPr id="28" name="TextBox 27"/>
          <p:cNvSpPr txBox="1"/>
          <p:nvPr/>
        </p:nvSpPr>
        <p:spPr>
          <a:xfrm>
            <a:off x="4581144" y="5212080"/>
            <a:ext cx="3044952" cy="868680"/>
          </a:xfrm>
          <a:prstGeom prst="rect">
            <a:avLst/>
          </a:prstGeom>
          <a:noFill/>
        </p:spPr>
        <p:txBody>
          <a:bodyPr wrap="square" lIns="0" rIns="0" tIns="0" bIns="0" anchor="t">
            <a:spAutoFit/>
          </a:bodyPr>
          <a:lstStyle/>
          <a:p>
            <a:pPr algn="l"/>
            <a:r>
              <a:rPr sz="1300" b="0" i="0">
                <a:solidFill>
                  <a:srgbClr val="1F2A37"/>
                </a:solidFill>
                <a:latin typeface="Calibri"/>
              </a:rPr>
              <a:t>Wealth quintiles; district and sub-county boundaries for aggregation</a:t>
            </a:r>
          </a:p>
        </p:txBody>
      </p:sp>
      <p:sp>
        <p:nvSpPr>
          <p:cNvPr id="29" name="Rounded Rectangle 28"/>
          <p:cNvSpPr/>
          <p:nvPr/>
        </p:nvSpPr>
        <p:spPr>
          <a:xfrm>
            <a:off x="8065008" y="4023360"/>
            <a:ext cx="3547872" cy="214884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339328" y="4297680"/>
            <a:ext cx="411480" cy="41148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300">
                <a:solidFill>
                  <a:srgbClr val="FFFFFF"/>
                </a:solidFill>
                <a:latin typeface="Cambria"/>
              </a:rPr>
              <a:t>6</a:t>
            </a:r>
          </a:p>
        </p:txBody>
      </p:sp>
      <p:sp>
        <p:nvSpPr>
          <p:cNvPr id="31" name="TextBox 30"/>
          <p:cNvSpPr txBox="1"/>
          <p:nvPr/>
        </p:nvSpPr>
        <p:spPr>
          <a:xfrm>
            <a:off x="8887968" y="4297680"/>
            <a:ext cx="2542032" cy="411480"/>
          </a:xfrm>
          <a:prstGeom prst="rect">
            <a:avLst/>
          </a:prstGeom>
          <a:noFill/>
        </p:spPr>
        <p:txBody>
          <a:bodyPr wrap="square" lIns="0" rIns="0" tIns="0" bIns="0" anchor="ctr">
            <a:spAutoFit/>
          </a:bodyPr>
          <a:lstStyle/>
          <a:p>
            <a:pPr algn="l"/>
            <a:r>
              <a:rPr sz="1800" b="1" i="0">
                <a:solidFill>
                  <a:srgbClr val="0D2B52"/>
                </a:solidFill>
                <a:latin typeface="Cambria"/>
              </a:rPr>
              <a:t>Validation</a:t>
            </a:r>
          </a:p>
        </p:txBody>
      </p:sp>
      <p:sp>
        <p:nvSpPr>
          <p:cNvPr id="32" name="TextBox 31"/>
          <p:cNvSpPr txBox="1"/>
          <p:nvPr/>
        </p:nvSpPr>
        <p:spPr>
          <a:xfrm>
            <a:off x="8339328" y="4864608"/>
            <a:ext cx="3044952" cy="365760"/>
          </a:xfrm>
          <a:prstGeom prst="rect">
            <a:avLst/>
          </a:prstGeom>
          <a:noFill/>
        </p:spPr>
        <p:txBody>
          <a:bodyPr wrap="square" lIns="0" rIns="0" tIns="0" bIns="0" anchor="t">
            <a:spAutoFit/>
          </a:bodyPr>
          <a:lstStyle/>
          <a:p>
            <a:pPr algn="l"/>
            <a:r>
              <a:rPr sz="1300" b="1" i="0">
                <a:solidFill>
                  <a:srgbClr val="B5451B"/>
                </a:solidFill>
                <a:latin typeface="Calibri"/>
              </a:rPr>
              <a:t>DHS 2016, 15 regions</a:t>
            </a:r>
          </a:p>
        </p:txBody>
      </p:sp>
      <p:sp>
        <p:nvSpPr>
          <p:cNvPr id="33" name="TextBox 32"/>
          <p:cNvSpPr txBox="1"/>
          <p:nvPr/>
        </p:nvSpPr>
        <p:spPr>
          <a:xfrm>
            <a:off x="8339328" y="5212080"/>
            <a:ext cx="3044952" cy="868680"/>
          </a:xfrm>
          <a:prstGeom prst="rect">
            <a:avLst/>
          </a:prstGeom>
          <a:noFill/>
        </p:spPr>
        <p:txBody>
          <a:bodyPr wrap="square" lIns="0" rIns="0" tIns="0" bIns="0" anchor="t">
            <a:spAutoFit/>
          </a:bodyPr>
          <a:lstStyle/>
          <a:p>
            <a:pPr algn="l"/>
            <a:r>
              <a:rPr sz="1300" b="0" i="0">
                <a:solidFill>
                  <a:srgbClr val="1F2A37"/>
                </a:solidFill>
                <a:latin typeface="Calibri"/>
              </a:rPr>
              <a:t>Regional health indicators, including women citing distance as a barrier to care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METHODOLOGY · TRAVEL-TIME MODEL</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A friction surface that gets wet</a:t>
            </a:r>
          </a:p>
        </p:txBody>
      </p:sp>
      <p:sp>
        <p:nvSpPr>
          <p:cNvPr id="4" name="Rounded Rectangle 3"/>
          <p:cNvSpPr/>
          <p:nvPr/>
        </p:nvSpPr>
        <p:spPr>
          <a:xfrm>
            <a:off x="548640" y="1645920"/>
            <a:ext cx="2103120" cy="2514600"/>
          </a:xfrm>
          <a:prstGeom prst="roundRect">
            <a:avLst>
              <a:gd name="adj" fmla="val 6000"/>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810512"/>
            <a:ext cx="548640" cy="411480"/>
          </a:xfrm>
          <a:prstGeom prst="rect">
            <a:avLst/>
          </a:prstGeom>
          <a:noFill/>
        </p:spPr>
        <p:txBody>
          <a:bodyPr wrap="square" lIns="0" rIns="0" tIns="0" bIns="0" anchor="t">
            <a:spAutoFit/>
          </a:bodyPr>
          <a:lstStyle/>
          <a:p>
            <a:pPr algn="l"/>
            <a:r>
              <a:rPr sz="2000" b="1" i="0">
                <a:solidFill>
                  <a:srgbClr val="9DBFE6"/>
                </a:solidFill>
                <a:latin typeface="Cambria"/>
              </a:rPr>
              <a:t>01</a:t>
            </a:r>
          </a:p>
        </p:txBody>
      </p:sp>
      <p:sp>
        <p:nvSpPr>
          <p:cNvPr id="6" name="TextBox 5"/>
          <p:cNvSpPr txBox="1"/>
          <p:nvPr/>
        </p:nvSpPr>
        <p:spPr>
          <a:xfrm>
            <a:off x="749808" y="2240280"/>
            <a:ext cx="1737360" cy="411480"/>
          </a:xfrm>
          <a:prstGeom prst="rect">
            <a:avLst/>
          </a:prstGeom>
          <a:noFill/>
        </p:spPr>
        <p:txBody>
          <a:bodyPr wrap="square" lIns="0" rIns="0" tIns="0" bIns="0" anchor="t">
            <a:spAutoFit/>
          </a:bodyPr>
          <a:lstStyle/>
          <a:p>
            <a:pPr algn="l"/>
            <a:r>
              <a:rPr sz="1700" b="1" i="0">
                <a:solidFill>
                  <a:srgbClr val="FFFFFF"/>
                </a:solidFill>
                <a:latin typeface="Cambria"/>
              </a:rPr>
              <a:t>Friction surface</a:t>
            </a:r>
          </a:p>
        </p:txBody>
      </p:sp>
      <p:sp>
        <p:nvSpPr>
          <p:cNvPr id="7" name="TextBox 6"/>
          <p:cNvSpPr txBox="1"/>
          <p:nvPr/>
        </p:nvSpPr>
        <p:spPr>
          <a:xfrm>
            <a:off x="749808" y="2697480"/>
            <a:ext cx="1737360" cy="1371600"/>
          </a:xfrm>
          <a:prstGeom prst="rect">
            <a:avLst/>
          </a:prstGeom>
          <a:noFill/>
        </p:spPr>
        <p:txBody>
          <a:bodyPr wrap="square" lIns="0" rIns="0" tIns="0" bIns="0" anchor="t">
            <a:spAutoFit/>
          </a:bodyPr>
          <a:lstStyle/>
          <a:p>
            <a:pPr algn="l"/>
            <a:r>
              <a:rPr sz="1300" b="0" i="0">
                <a:solidFill>
                  <a:srgbClr val="CADCF2"/>
                </a:solidFill>
                <a:latin typeface="Calibri"/>
              </a:rPr>
              <a:t>Each 1 km cell takes the speed of the fastest road through it.</a:t>
            </a:r>
          </a:p>
        </p:txBody>
      </p:sp>
      <p:sp>
        <p:nvSpPr>
          <p:cNvPr id="8" name="Rounded Rectangle 7"/>
          <p:cNvSpPr/>
          <p:nvPr/>
        </p:nvSpPr>
        <p:spPr>
          <a:xfrm>
            <a:off x="2788920" y="1645920"/>
            <a:ext cx="2103120" cy="2514600"/>
          </a:xfrm>
          <a:prstGeom prst="roundRect">
            <a:avLst>
              <a:gd name="adj" fmla="val 6000"/>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0088" y="1810512"/>
            <a:ext cx="548640" cy="411480"/>
          </a:xfrm>
          <a:prstGeom prst="rect">
            <a:avLst/>
          </a:prstGeom>
          <a:noFill/>
        </p:spPr>
        <p:txBody>
          <a:bodyPr wrap="square" lIns="0" rIns="0" tIns="0" bIns="0" anchor="t">
            <a:spAutoFit/>
          </a:bodyPr>
          <a:lstStyle/>
          <a:p>
            <a:pPr algn="l"/>
            <a:r>
              <a:rPr sz="2000" b="1" i="0">
                <a:solidFill>
                  <a:srgbClr val="9DBFE6"/>
                </a:solidFill>
                <a:latin typeface="Cambria"/>
              </a:rPr>
              <a:t>02</a:t>
            </a:r>
          </a:p>
        </p:txBody>
      </p:sp>
      <p:sp>
        <p:nvSpPr>
          <p:cNvPr id="10" name="TextBox 9"/>
          <p:cNvSpPr txBox="1"/>
          <p:nvPr/>
        </p:nvSpPr>
        <p:spPr>
          <a:xfrm>
            <a:off x="2990088" y="2240280"/>
            <a:ext cx="1737360" cy="411480"/>
          </a:xfrm>
          <a:prstGeom prst="rect">
            <a:avLst/>
          </a:prstGeom>
          <a:noFill/>
        </p:spPr>
        <p:txBody>
          <a:bodyPr wrap="square" lIns="0" rIns="0" tIns="0" bIns="0" anchor="t">
            <a:spAutoFit/>
          </a:bodyPr>
          <a:lstStyle/>
          <a:p>
            <a:pPr algn="l"/>
            <a:r>
              <a:rPr sz="1700" b="1" i="0">
                <a:solidFill>
                  <a:srgbClr val="FFFFFF"/>
                </a:solidFill>
                <a:latin typeface="Cambria"/>
              </a:rPr>
              <a:t>Wet-day speeds</a:t>
            </a:r>
          </a:p>
        </p:txBody>
      </p:sp>
      <p:sp>
        <p:nvSpPr>
          <p:cNvPr id="11" name="TextBox 10"/>
          <p:cNvSpPr txBox="1"/>
          <p:nvPr/>
        </p:nvSpPr>
        <p:spPr>
          <a:xfrm>
            <a:off x="2990088" y="2697480"/>
            <a:ext cx="1737360" cy="1371600"/>
          </a:xfrm>
          <a:prstGeom prst="rect">
            <a:avLst/>
          </a:prstGeom>
          <a:noFill/>
        </p:spPr>
        <p:txBody>
          <a:bodyPr wrap="square" lIns="0" rIns="0" tIns="0" bIns="0" anchor="t">
            <a:spAutoFit/>
          </a:bodyPr>
          <a:lstStyle/>
          <a:p>
            <a:pPr algn="l"/>
            <a:r>
              <a:rPr sz="1300" b="0" i="0">
                <a:solidFill>
                  <a:srgbClr val="CADCF2"/>
                </a:solidFill>
                <a:latin typeface="Calibri"/>
              </a:rPr>
              <a:t>Gravel keeps 70%, earth 40%, footpaths 60%. A road over a ford drops to 0.5 km/h.</a:t>
            </a:r>
          </a:p>
        </p:txBody>
      </p:sp>
      <p:sp>
        <p:nvSpPr>
          <p:cNvPr id="12" name="Rounded Rectangle 11"/>
          <p:cNvSpPr/>
          <p:nvPr/>
        </p:nvSpPr>
        <p:spPr>
          <a:xfrm>
            <a:off x="5029199" y="1645920"/>
            <a:ext cx="2103120" cy="2514600"/>
          </a:xfrm>
          <a:prstGeom prst="roundRect">
            <a:avLst>
              <a:gd name="adj" fmla="val 6000"/>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30367" y="1810512"/>
            <a:ext cx="548640" cy="411480"/>
          </a:xfrm>
          <a:prstGeom prst="rect">
            <a:avLst/>
          </a:prstGeom>
          <a:noFill/>
        </p:spPr>
        <p:txBody>
          <a:bodyPr wrap="square" lIns="0" rIns="0" tIns="0" bIns="0" anchor="t">
            <a:spAutoFit/>
          </a:bodyPr>
          <a:lstStyle/>
          <a:p>
            <a:pPr algn="l"/>
            <a:r>
              <a:rPr sz="2000" b="1" i="0">
                <a:solidFill>
                  <a:srgbClr val="9DBFE6"/>
                </a:solidFill>
                <a:latin typeface="Cambria"/>
              </a:rPr>
              <a:t>03</a:t>
            </a:r>
          </a:p>
        </p:txBody>
      </p:sp>
      <p:sp>
        <p:nvSpPr>
          <p:cNvPr id="14" name="TextBox 13"/>
          <p:cNvSpPr txBox="1"/>
          <p:nvPr/>
        </p:nvSpPr>
        <p:spPr>
          <a:xfrm>
            <a:off x="5230367" y="2240280"/>
            <a:ext cx="1737360" cy="411480"/>
          </a:xfrm>
          <a:prstGeom prst="rect">
            <a:avLst/>
          </a:prstGeom>
          <a:noFill/>
        </p:spPr>
        <p:txBody>
          <a:bodyPr wrap="square" lIns="0" rIns="0" tIns="0" bIns="0" anchor="t">
            <a:spAutoFit/>
          </a:bodyPr>
          <a:lstStyle/>
          <a:p>
            <a:pPr algn="l"/>
            <a:r>
              <a:rPr sz="1700" b="1" i="0">
                <a:solidFill>
                  <a:srgbClr val="FFFFFF"/>
                </a:solidFill>
                <a:latin typeface="Cambria"/>
              </a:rPr>
              <a:t>Wet-day chance</a:t>
            </a:r>
          </a:p>
        </p:txBody>
      </p:sp>
      <p:sp>
        <p:nvSpPr>
          <p:cNvPr id="15" name="TextBox 14"/>
          <p:cNvSpPr txBox="1"/>
          <p:nvPr/>
        </p:nvSpPr>
        <p:spPr>
          <a:xfrm>
            <a:off x="5230367" y="2697480"/>
            <a:ext cx="1737360" cy="1371600"/>
          </a:xfrm>
          <a:prstGeom prst="rect">
            <a:avLst/>
          </a:prstGeom>
          <a:noFill/>
        </p:spPr>
        <p:txBody>
          <a:bodyPr wrap="square" lIns="0" rIns="0" tIns="0" bIns="0" anchor="t">
            <a:spAutoFit/>
          </a:bodyPr>
          <a:lstStyle/>
          <a:p>
            <a:pPr algn="l"/>
            <a:r>
              <a:rPr sz="1300" b="0" i="0">
                <a:solidFill>
                  <a:srgbClr val="CADCF2"/>
                </a:solidFill>
                <a:latin typeface="Calibri"/>
              </a:rPr>
              <a:t>CHIRPS: ≥10 mm of rain, or the day after ≥25 mm, gives each cell's share of wet days per month.</a:t>
            </a:r>
          </a:p>
        </p:txBody>
      </p:sp>
      <p:sp>
        <p:nvSpPr>
          <p:cNvPr id="16" name="Rounded Rectangle 15"/>
          <p:cNvSpPr/>
          <p:nvPr/>
        </p:nvSpPr>
        <p:spPr>
          <a:xfrm>
            <a:off x="7269479" y="1645920"/>
            <a:ext cx="2103120" cy="2514600"/>
          </a:xfrm>
          <a:prstGeom prst="roundRect">
            <a:avLst>
              <a:gd name="adj" fmla="val 6000"/>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70648" y="1810512"/>
            <a:ext cx="548640" cy="411480"/>
          </a:xfrm>
          <a:prstGeom prst="rect">
            <a:avLst/>
          </a:prstGeom>
          <a:noFill/>
        </p:spPr>
        <p:txBody>
          <a:bodyPr wrap="square" lIns="0" rIns="0" tIns="0" bIns="0" anchor="t">
            <a:spAutoFit/>
          </a:bodyPr>
          <a:lstStyle/>
          <a:p>
            <a:pPr algn="l"/>
            <a:r>
              <a:rPr sz="2000" b="1" i="0">
                <a:solidFill>
                  <a:srgbClr val="FFFFFF"/>
                </a:solidFill>
                <a:latin typeface="Cambria"/>
              </a:rPr>
              <a:t>04</a:t>
            </a:r>
          </a:p>
        </p:txBody>
      </p:sp>
      <p:sp>
        <p:nvSpPr>
          <p:cNvPr id="18" name="TextBox 17"/>
          <p:cNvSpPr txBox="1"/>
          <p:nvPr/>
        </p:nvSpPr>
        <p:spPr>
          <a:xfrm>
            <a:off x="7470648" y="2240280"/>
            <a:ext cx="1737360" cy="411480"/>
          </a:xfrm>
          <a:prstGeom prst="rect">
            <a:avLst/>
          </a:prstGeom>
          <a:noFill/>
        </p:spPr>
        <p:txBody>
          <a:bodyPr wrap="square" lIns="0" rIns="0" tIns="0" bIns="0" anchor="t">
            <a:spAutoFit/>
          </a:bodyPr>
          <a:lstStyle/>
          <a:p>
            <a:pPr algn="l"/>
            <a:r>
              <a:rPr sz="1700" b="1" i="0">
                <a:solidFill>
                  <a:srgbClr val="FFFFFF"/>
                </a:solidFill>
                <a:latin typeface="Cambria"/>
              </a:rPr>
              <a:t>Monthly cost</a:t>
            </a:r>
          </a:p>
        </p:txBody>
      </p:sp>
      <p:sp>
        <p:nvSpPr>
          <p:cNvPr id="19" name="TextBox 18"/>
          <p:cNvSpPr txBox="1"/>
          <p:nvPr/>
        </p:nvSpPr>
        <p:spPr>
          <a:xfrm>
            <a:off x="7470648" y="2697480"/>
            <a:ext cx="1737360" cy="1371600"/>
          </a:xfrm>
          <a:prstGeom prst="rect">
            <a:avLst/>
          </a:prstGeom>
          <a:noFill/>
        </p:spPr>
        <p:txBody>
          <a:bodyPr wrap="square" lIns="0" rIns="0" tIns="0" bIns="0" anchor="t">
            <a:spAutoFit/>
          </a:bodyPr>
          <a:lstStyle/>
          <a:p>
            <a:pPr algn="l"/>
            <a:r>
              <a:rPr sz="1300" b="0" i="0">
                <a:solidFill>
                  <a:srgbClr val="FFFFFF"/>
                </a:solidFill>
                <a:latin typeface="Calibri"/>
              </a:rPr>
              <a:t>Expected crossing time mixes dry and wet speeds by that share.</a:t>
            </a:r>
          </a:p>
        </p:txBody>
      </p:sp>
      <p:sp>
        <p:nvSpPr>
          <p:cNvPr id="20" name="Rounded Rectangle 19"/>
          <p:cNvSpPr/>
          <p:nvPr/>
        </p:nvSpPr>
        <p:spPr>
          <a:xfrm>
            <a:off x="9509759" y="1645920"/>
            <a:ext cx="2103120" cy="2514600"/>
          </a:xfrm>
          <a:prstGeom prst="roundRect">
            <a:avLst>
              <a:gd name="adj" fmla="val 6000"/>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10928" y="1810512"/>
            <a:ext cx="548640" cy="411480"/>
          </a:xfrm>
          <a:prstGeom prst="rect">
            <a:avLst/>
          </a:prstGeom>
          <a:noFill/>
        </p:spPr>
        <p:txBody>
          <a:bodyPr wrap="square" lIns="0" rIns="0" tIns="0" bIns="0" anchor="t">
            <a:spAutoFit/>
          </a:bodyPr>
          <a:lstStyle/>
          <a:p>
            <a:pPr algn="l"/>
            <a:r>
              <a:rPr sz="2000" b="1" i="0">
                <a:solidFill>
                  <a:srgbClr val="9DBFE6"/>
                </a:solidFill>
                <a:latin typeface="Cambria"/>
              </a:rPr>
              <a:t>05</a:t>
            </a:r>
          </a:p>
        </p:txBody>
      </p:sp>
      <p:sp>
        <p:nvSpPr>
          <p:cNvPr id="22" name="TextBox 21"/>
          <p:cNvSpPr txBox="1"/>
          <p:nvPr/>
        </p:nvSpPr>
        <p:spPr>
          <a:xfrm>
            <a:off x="9710928" y="2240280"/>
            <a:ext cx="1737360" cy="411480"/>
          </a:xfrm>
          <a:prstGeom prst="rect">
            <a:avLst/>
          </a:prstGeom>
          <a:noFill/>
        </p:spPr>
        <p:txBody>
          <a:bodyPr wrap="square" lIns="0" rIns="0" tIns="0" bIns="0" anchor="t">
            <a:spAutoFit/>
          </a:bodyPr>
          <a:lstStyle/>
          <a:p>
            <a:pPr algn="l"/>
            <a:r>
              <a:rPr sz="1700" b="1" i="0">
                <a:solidFill>
                  <a:srgbClr val="FFFFFF"/>
                </a:solidFill>
                <a:latin typeface="Cambria"/>
              </a:rPr>
              <a:t>Least-cost paths</a:t>
            </a:r>
          </a:p>
        </p:txBody>
      </p:sp>
      <p:sp>
        <p:nvSpPr>
          <p:cNvPr id="23" name="TextBox 22"/>
          <p:cNvSpPr txBox="1"/>
          <p:nvPr/>
        </p:nvSpPr>
        <p:spPr>
          <a:xfrm>
            <a:off x="9710928" y="2697480"/>
            <a:ext cx="1737360" cy="1371600"/>
          </a:xfrm>
          <a:prstGeom prst="rect">
            <a:avLst/>
          </a:prstGeom>
          <a:noFill/>
        </p:spPr>
        <p:txBody>
          <a:bodyPr wrap="square" lIns="0" rIns="0" tIns="0" bIns="0" anchor="t">
            <a:spAutoFit/>
          </a:bodyPr>
          <a:lstStyle/>
          <a:p>
            <a:pPr algn="l"/>
            <a:r>
              <a:rPr sz="1300" b="0" i="0">
                <a:solidFill>
                  <a:srgbClr val="CADCF2"/>
                </a:solidFill>
                <a:latin typeface="Calibri"/>
              </a:rPr>
              <a:t>Travel time to the nearest destination, every month, by road and on foot.</a:t>
            </a:r>
          </a:p>
        </p:txBody>
      </p:sp>
      <p:sp>
        <p:nvSpPr>
          <p:cNvPr id="24" name="Rounded Rectangle 23"/>
          <p:cNvSpPr/>
          <p:nvPr/>
        </p:nvSpPr>
        <p:spPr>
          <a:xfrm>
            <a:off x="548640" y="4434840"/>
            <a:ext cx="6492240" cy="173736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4617720"/>
            <a:ext cx="5943600" cy="320040"/>
          </a:xfrm>
          <a:prstGeom prst="rect">
            <a:avLst/>
          </a:prstGeom>
          <a:noFill/>
        </p:spPr>
        <p:txBody>
          <a:bodyPr wrap="square" lIns="0" rIns="0" tIns="0" bIns="0" anchor="t">
            <a:spAutoFit/>
          </a:bodyPr>
          <a:lstStyle/>
          <a:p>
            <a:pPr algn="l"/>
            <a:r>
              <a:rPr sz="1200" b="1" i="0">
                <a:solidFill>
                  <a:srgbClr val="B5451B"/>
                </a:solidFill>
                <a:latin typeface="Calibri"/>
              </a:rPr>
              <a:t>EXPECTED TIME TO CROSS A CELL IN A MONTH</a:t>
            </a:r>
          </a:p>
        </p:txBody>
      </p:sp>
      <p:sp>
        <p:nvSpPr>
          <p:cNvPr id="26" name="TextBox 25"/>
          <p:cNvSpPr txBox="1"/>
          <p:nvPr/>
        </p:nvSpPr>
        <p:spPr>
          <a:xfrm>
            <a:off x="868680" y="4983480"/>
            <a:ext cx="5943600" cy="548640"/>
          </a:xfrm>
          <a:prstGeom prst="rect">
            <a:avLst/>
          </a:prstGeom>
          <a:noFill/>
        </p:spPr>
        <p:txBody>
          <a:bodyPr wrap="square" lIns="0" rIns="0" tIns="0" bIns="0" anchor="t">
            <a:spAutoFit/>
          </a:bodyPr>
          <a:lstStyle/>
          <a:p>
            <a:pPr algn="l"/>
            <a:r>
              <a:rPr sz="2800" b="1" i="0">
                <a:solidFill>
                  <a:srgbClr val="0D2B52"/>
                </a:solidFill>
                <a:latin typeface="Cambria"/>
              </a:rPr>
              <a:t>t = (1 − f) / v</a:t>
            </a:r>
            <a:r>
              <a:rPr sz="1600" b="1" i="0">
                <a:solidFill>
                  <a:srgbClr val="0D2B52"/>
                </a:solidFill>
                <a:latin typeface="Cambria"/>
              </a:rPr>
              <a:t>dry</a:t>
            </a:r>
            <a:r>
              <a:rPr sz="2800" b="1" i="0">
                <a:solidFill>
                  <a:srgbClr val="0D2B52"/>
                </a:solidFill>
                <a:latin typeface="Cambria"/>
              </a:rPr>
              <a:t>  +  f / v</a:t>
            </a:r>
            <a:r>
              <a:rPr sz="1600" b="1" i="0">
                <a:solidFill>
                  <a:srgbClr val="0D2B52"/>
                </a:solidFill>
                <a:latin typeface="Cambria"/>
              </a:rPr>
              <a:t>wet</a:t>
            </a:r>
          </a:p>
        </p:txBody>
      </p:sp>
      <p:sp>
        <p:nvSpPr>
          <p:cNvPr id="27" name="TextBox 26"/>
          <p:cNvSpPr txBox="1"/>
          <p:nvPr/>
        </p:nvSpPr>
        <p:spPr>
          <a:xfrm>
            <a:off x="868680" y="5623560"/>
            <a:ext cx="5943600" cy="457200"/>
          </a:xfrm>
          <a:prstGeom prst="rect">
            <a:avLst/>
          </a:prstGeom>
          <a:noFill/>
        </p:spPr>
        <p:txBody>
          <a:bodyPr wrap="square" lIns="0" rIns="0" tIns="0" bIns="0" anchor="t">
            <a:spAutoFit/>
          </a:bodyPr>
          <a:lstStyle/>
          <a:p>
            <a:pPr algn="l"/>
            <a:r>
              <a:rPr sz="1300" b="0" i="1">
                <a:solidFill>
                  <a:srgbClr val="5B6573"/>
                </a:solidFill>
                <a:latin typeface="Calibri"/>
              </a:rPr>
              <a:t>f = share of wet days in that cell and month (CHIRPS)</a:t>
            </a:r>
          </a:p>
        </p:txBody>
      </p:sp>
      <p:sp>
        <p:nvSpPr>
          <p:cNvPr id="28" name="Rounded Rectangle 27"/>
          <p:cNvSpPr/>
          <p:nvPr/>
        </p:nvSpPr>
        <p:spPr>
          <a:xfrm>
            <a:off x="7269480" y="4434840"/>
            <a:ext cx="4370832" cy="173736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4617720"/>
            <a:ext cx="3840480" cy="320040"/>
          </a:xfrm>
          <a:prstGeom prst="rect">
            <a:avLst/>
          </a:prstGeom>
          <a:noFill/>
        </p:spPr>
        <p:txBody>
          <a:bodyPr wrap="square" lIns="0" rIns="0" tIns="0" bIns="0" anchor="t">
            <a:spAutoFit/>
          </a:bodyPr>
          <a:lstStyle/>
          <a:p>
            <a:pPr algn="l"/>
            <a:r>
              <a:rPr sz="1200" b="1" i="0">
                <a:solidFill>
                  <a:srgbClr val="B5451B"/>
                </a:solidFill>
                <a:latin typeface="Calibri"/>
              </a:rPr>
              <a:t>TWO TRAVEL MODES</a:t>
            </a:r>
          </a:p>
        </p:txBody>
      </p:sp>
      <p:sp>
        <p:nvSpPr>
          <p:cNvPr id="30" name="TextBox 29"/>
          <p:cNvSpPr txBox="1"/>
          <p:nvPr/>
        </p:nvSpPr>
        <p:spPr>
          <a:xfrm>
            <a:off x="7589520" y="4983480"/>
            <a:ext cx="3840480" cy="1097280"/>
          </a:xfrm>
          <a:prstGeom prst="rect">
            <a:avLst/>
          </a:prstGeom>
          <a:noFill/>
        </p:spPr>
        <p:txBody>
          <a:bodyPr wrap="square" lIns="0" rIns="0" tIns="0" bIns="0" anchor="t">
            <a:spAutoFit/>
          </a:bodyPr>
          <a:lstStyle/>
          <a:p>
            <a:pPr algn="l">
              <a:spcAft>
                <a:spcPts val="600"/>
              </a:spcAft>
            </a:pPr>
            <a:r>
              <a:rPr sz="1500" b="1" i="0">
                <a:solidFill>
                  <a:srgbClr val="0D2B52"/>
                </a:solidFill>
                <a:latin typeface="Calibri"/>
              </a:rPr>
              <a:t>Motorised: </a:t>
            </a:r>
            <a:r>
              <a:rPr sz="1500" b="0" i="0">
                <a:solidFill>
                  <a:srgbClr val="1F2A37"/>
                </a:solidFill>
                <a:latin typeface="Calibri"/>
              </a:rPr>
              <a:t>road speeds, motorcycle taxis on paths</a:t>
            </a:r>
          </a:p>
          <a:p>
            <a:pPr algn="l">
              <a:spcAft>
                <a:spcPts val="600"/>
              </a:spcAft>
            </a:pPr>
            <a:r>
              <a:rPr sz="1500" b="1" i="0">
                <a:solidFill>
                  <a:srgbClr val="0D2B52"/>
                </a:solidFill>
                <a:latin typeface="Calibri"/>
              </a:rPr>
              <a:t>Walking: </a:t>
            </a:r>
            <a:r>
              <a:rPr sz="1500" b="0" i="0">
                <a:solidFill>
                  <a:srgbClr val="1F2A37"/>
                </a:solidFill>
                <a:latin typeface="Calibri"/>
              </a:rPr>
              <a:t>5 km/h, slower on wet earth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METHODOLOGY · SCENARIOS AND BREAKDOWNS</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Analysis design</a:t>
            </a:r>
          </a:p>
        </p:txBody>
      </p:sp>
      <p:sp>
        <p:nvSpPr>
          <p:cNvPr id="4" name="Rounded Rectangle 3"/>
          <p:cNvSpPr/>
          <p:nvPr/>
        </p:nvSpPr>
        <p:spPr>
          <a:xfrm>
            <a:off x="548640" y="1600200"/>
            <a:ext cx="5440680" cy="2194560"/>
          </a:xfrm>
          <a:prstGeom prst="roundRect">
            <a:avLst>
              <a:gd name="adj" fmla="val 5000"/>
            </a:avLst>
          </a:prstGeom>
          <a:solidFill>
            <a:srgbClr val="EDF2F8"/>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1874519"/>
            <a:ext cx="457200" cy="45720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FFFFFF"/>
                </a:solidFill>
                <a:latin typeface="Cambria"/>
              </a:rPr>
              <a:t>A</a:t>
            </a:r>
          </a:p>
        </p:txBody>
      </p:sp>
      <p:sp>
        <p:nvSpPr>
          <p:cNvPr id="6" name="TextBox 5"/>
          <p:cNvSpPr txBox="1"/>
          <p:nvPr/>
        </p:nvSpPr>
        <p:spPr>
          <a:xfrm>
            <a:off x="1463040" y="1874519"/>
            <a:ext cx="4251960" cy="457200"/>
          </a:xfrm>
          <a:prstGeom prst="rect">
            <a:avLst/>
          </a:prstGeom>
          <a:noFill/>
        </p:spPr>
        <p:txBody>
          <a:bodyPr wrap="square" lIns="0" rIns="0" tIns="0" bIns="0" anchor="ctr">
            <a:spAutoFit/>
          </a:bodyPr>
          <a:lstStyle/>
          <a:p>
            <a:pPr algn="l"/>
            <a:r>
              <a:rPr sz="2000" b="1" i="0">
                <a:solidFill>
                  <a:srgbClr val="0D2B52"/>
                </a:solidFill>
                <a:latin typeface="Cambria"/>
              </a:rPr>
              <a:t>Destinations</a:t>
            </a:r>
          </a:p>
        </p:txBody>
      </p:sp>
      <p:sp>
        <p:nvSpPr>
          <p:cNvPr id="7" name="TextBox 6"/>
          <p:cNvSpPr txBox="1"/>
          <p:nvPr/>
        </p:nvSpPr>
        <p:spPr>
          <a:xfrm>
            <a:off x="1463040" y="2468880"/>
            <a:ext cx="4251960" cy="1188719"/>
          </a:xfrm>
          <a:prstGeom prst="rect">
            <a:avLst/>
          </a:prstGeom>
          <a:noFill/>
        </p:spPr>
        <p:txBody>
          <a:bodyPr wrap="square" lIns="0" rIns="0" tIns="0" bIns="0" anchor="t">
            <a:spAutoFit/>
          </a:bodyPr>
          <a:lstStyle/>
          <a:p>
            <a:pPr algn="l" marL="201168" indent="-201168">
              <a:spcAft>
                <a:spcPts val="400"/>
              </a:spcAft>
              <a:buChar char="•"/>
            </a:pPr>
            <a:r>
              <a:rPr sz="1500" b="0" i="0">
                <a:solidFill>
                  <a:srgbClr val="1F2A37"/>
                </a:solidFill>
                <a:latin typeface="Calibri"/>
              </a:rPr>
              <a:t>Hospitals</a:t>
            </a:r>
          </a:p>
          <a:p>
            <a:pPr algn="l" marL="201168" indent="-201168">
              <a:spcAft>
                <a:spcPts val="400"/>
              </a:spcAft>
              <a:buChar char="•"/>
            </a:pPr>
            <a:r>
              <a:rPr sz="1500" b="0" i="0">
                <a:solidFill>
                  <a:srgbClr val="1F2A37"/>
                </a:solidFill>
                <a:latin typeface="Calibri"/>
              </a:rPr>
              <a:t>HC IV or hospital (emergency obstetric care)</a:t>
            </a:r>
          </a:p>
          <a:p>
            <a:pPr algn="l" marL="201168" indent="-201168">
              <a:spcAft>
                <a:spcPts val="400"/>
              </a:spcAft>
              <a:buChar char="•"/>
            </a:pPr>
            <a:r>
              <a:rPr sz="1500" b="0" i="0">
                <a:solidFill>
                  <a:srgbClr val="1F2A37"/>
                </a:solidFill>
                <a:latin typeface="Calibri"/>
              </a:rPr>
              <a:t>Any health facility</a:t>
            </a:r>
          </a:p>
          <a:p>
            <a:pPr algn="l" marL="201168" indent="-201168">
              <a:spcAft>
                <a:spcPts val="400"/>
              </a:spcAft>
              <a:buChar char="•"/>
            </a:pPr>
            <a:r>
              <a:rPr sz="1500" b="0" i="0">
                <a:solidFill>
                  <a:srgbClr val="1F2A37"/>
                </a:solidFill>
                <a:latin typeface="Calibri"/>
              </a:rPr>
              <a:t>Secondary schools, markets, towns</a:t>
            </a:r>
          </a:p>
        </p:txBody>
      </p:sp>
      <p:sp>
        <p:nvSpPr>
          <p:cNvPr id="8" name="Rounded Rectangle 7"/>
          <p:cNvSpPr/>
          <p:nvPr/>
        </p:nvSpPr>
        <p:spPr>
          <a:xfrm>
            <a:off x="6199632" y="1600200"/>
            <a:ext cx="5440680" cy="219456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73952" y="1874519"/>
            <a:ext cx="457200" cy="45720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FFFFFF"/>
                </a:solidFill>
                <a:latin typeface="Cambria"/>
              </a:rPr>
              <a:t>B</a:t>
            </a:r>
          </a:p>
        </p:txBody>
      </p:sp>
      <p:sp>
        <p:nvSpPr>
          <p:cNvPr id="10" name="TextBox 9"/>
          <p:cNvSpPr txBox="1"/>
          <p:nvPr/>
        </p:nvSpPr>
        <p:spPr>
          <a:xfrm>
            <a:off x="7114032" y="1874519"/>
            <a:ext cx="4251960" cy="457200"/>
          </a:xfrm>
          <a:prstGeom prst="rect">
            <a:avLst/>
          </a:prstGeom>
          <a:noFill/>
        </p:spPr>
        <p:txBody>
          <a:bodyPr wrap="square" lIns="0" rIns="0" tIns="0" bIns="0" anchor="ctr">
            <a:spAutoFit/>
          </a:bodyPr>
          <a:lstStyle/>
          <a:p>
            <a:pPr algn="l"/>
            <a:r>
              <a:rPr sz="2000" b="1" i="0">
                <a:solidFill>
                  <a:srgbClr val="0D2B52"/>
                </a:solidFill>
                <a:latin typeface="Cambria"/>
              </a:rPr>
              <a:t>Scenarios</a:t>
            </a:r>
          </a:p>
        </p:txBody>
      </p:sp>
      <p:sp>
        <p:nvSpPr>
          <p:cNvPr id="11" name="TextBox 10"/>
          <p:cNvSpPr txBox="1"/>
          <p:nvPr/>
        </p:nvSpPr>
        <p:spPr>
          <a:xfrm>
            <a:off x="7114032" y="2468880"/>
            <a:ext cx="4251960" cy="1188719"/>
          </a:xfrm>
          <a:prstGeom prst="rect">
            <a:avLst/>
          </a:prstGeom>
          <a:noFill/>
        </p:spPr>
        <p:txBody>
          <a:bodyPr wrap="square" lIns="0" rIns="0" tIns="0" bIns="0" anchor="t">
            <a:spAutoFit/>
          </a:bodyPr>
          <a:lstStyle/>
          <a:p>
            <a:pPr algn="l" marL="201168" indent="-201168">
              <a:spcAft>
                <a:spcPts val="400"/>
              </a:spcAft>
              <a:buChar char="•"/>
            </a:pPr>
            <a:r>
              <a:rPr sz="1500" b="0" i="0">
                <a:solidFill>
                  <a:srgbClr val="1F2A37"/>
                </a:solidFill>
                <a:latin typeface="Calibri"/>
              </a:rPr>
              <a:t>Every day dry; every day wet</a:t>
            </a:r>
          </a:p>
          <a:p>
            <a:pPr algn="l" marL="201168" indent="-201168">
              <a:spcAft>
                <a:spcPts val="400"/>
              </a:spcAft>
              <a:buChar char="•"/>
            </a:pPr>
            <a:r>
              <a:rPr sz="1500" b="0" i="0">
                <a:solidFill>
                  <a:srgbClr val="1F2A37"/>
                </a:solidFill>
                <a:latin typeface="Calibri"/>
              </a:rPr>
              <a:t>Each of the 12 months</a:t>
            </a:r>
          </a:p>
          <a:p>
            <a:pPr algn="l" marL="201168" indent="-201168">
              <a:spcAft>
                <a:spcPts val="400"/>
              </a:spcAft>
              <a:buChar char="•"/>
            </a:pPr>
            <a:r>
              <a:rPr sz="1500" b="0" i="0">
                <a:solidFill>
                  <a:srgbClr val="1F2A37"/>
                </a:solidFill>
                <a:latin typeface="Calibri"/>
              </a:rPr>
              <a:t>Rainfall of 1981–2000 vs 2006–2025</a:t>
            </a:r>
          </a:p>
        </p:txBody>
      </p:sp>
      <p:sp>
        <p:nvSpPr>
          <p:cNvPr id="12" name="Rounded Rectangle 11"/>
          <p:cNvSpPr/>
          <p:nvPr/>
        </p:nvSpPr>
        <p:spPr>
          <a:xfrm>
            <a:off x="548640" y="4023360"/>
            <a:ext cx="5440680" cy="2194560"/>
          </a:xfrm>
          <a:prstGeom prst="roundRect">
            <a:avLst>
              <a:gd name="adj" fmla="val 5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59" y="4297680"/>
            <a:ext cx="457200" cy="45720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FFFFFF"/>
                </a:solidFill>
                <a:latin typeface="Cambria"/>
              </a:rPr>
              <a:t>C</a:t>
            </a:r>
          </a:p>
        </p:txBody>
      </p:sp>
      <p:sp>
        <p:nvSpPr>
          <p:cNvPr id="14" name="TextBox 13"/>
          <p:cNvSpPr txBox="1"/>
          <p:nvPr/>
        </p:nvSpPr>
        <p:spPr>
          <a:xfrm>
            <a:off x="1463040" y="4297680"/>
            <a:ext cx="4251960" cy="457200"/>
          </a:xfrm>
          <a:prstGeom prst="rect">
            <a:avLst/>
          </a:prstGeom>
          <a:noFill/>
        </p:spPr>
        <p:txBody>
          <a:bodyPr wrap="square" lIns="0" rIns="0" tIns="0" bIns="0" anchor="ctr">
            <a:spAutoFit/>
          </a:bodyPr>
          <a:lstStyle/>
          <a:p>
            <a:pPr algn="l"/>
            <a:r>
              <a:rPr sz="2000" b="1" i="0">
                <a:solidFill>
                  <a:srgbClr val="0D2B52"/>
                </a:solidFill>
                <a:latin typeface="Cambria"/>
              </a:rPr>
              <a:t>Breakdowns</a:t>
            </a:r>
          </a:p>
        </p:txBody>
      </p:sp>
      <p:sp>
        <p:nvSpPr>
          <p:cNvPr id="15" name="TextBox 14"/>
          <p:cNvSpPr txBox="1"/>
          <p:nvPr/>
        </p:nvSpPr>
        <p:spPr>
          <a:xfrm>
            <a:off x="1463040" y="4892040"/>
            <a:ext cx="4251960" cy="1188719"/>
          </a:xfrm>
          <a:prstGeom prst="rect">
            <a:avLst/>
          </a:prstGeom>
          <a:noFill/>
        </p:spPr>
        <p:txBody>
          <a:bodyPr wrap="square" lIns="0" rIns="0" tIns="0" bIns="0" anchor="t">
            <a:spAutoFit/>
          </a:bodyPr>
          <a:lstStyle/>
          <a:p>
            <a:pPr algn="l" marL="201168" indent="-201168">
              <a:spcAft>
                <a:spcPts val="400"/>
              </a:spcAft>
              <a:buChar char="•"/>
            </a:pPr>
            <a:r>
              <a:rPr sz="1500" b="0" i="0">
                <a:solidFill>
                  <a:srgbClr val="1F2A37"/>
                </a:solidFill>
                <a:latin typeface="Calibri"/>
              </a:rPr>
              <a:t>District, sub-county, hospital catchment</a:t>
            </a:r>
          </a:p>
          <a:p>
            <a:pPr algn="l" marL="201168" indent="-201168">
              <a:spcAft>
                <a:spcPts val="400"/>
              </a:spcAft>
              <a:buChar char="•"/>
            </a:pPr>
            <a:r>
              <a:rPr sz="1500" b="0" i="0">
                <a:solidFill>
                  <a:srgbClr val="1F2A37"/>
                </a:solidFill>
                <a:latin typeface="Calibri"/>
              </a:rPr>
              <a:t>Women 15–49 and children under 5</a:t>
            </a:r>
          </a:p>
          <a:p>
            <a:pPr algn="l" marL="201168" indent="-201168">
              <a:spcAft>
                <a:spcPts val="400"/>
              </a:spcAft>
              <a:buChar char="•"/>
            </a:pPr>
            <a:r>
              <a:rPr sz="1500" b="0" i="0">
                <a:solidFill>
                  <a:srgbClr val="1F2A37"/>
                </a:solidFill>
                <a:latin typeface="Calibri"/>
              </a:rPr>
              <a:t>Wealth quintiles; refugee-hosting sub-counties</a:t>
            </a:r>
          </a:p>
        </p:txBody>
      </p:sp>
      <p:sp>
        <p:nvSpPr>
          <p:cNvPr id="16" name="Rounded Rectangle 15"/>
          <p:cNvSpPr/>
          <p:nvPr/>
        </p:nvSpPr>
        <p:spPr>
          <a:xfrm>
            <a:off x="6199632" y="4023360"/>
            <a:ext cx="5440680" cy="2194560"/>
          </a:xfrm>
          <a:prstGeom prst="roundRect">
            <a:avLst>
              <a:gd name="adj" fmla="val 5000"/>
            </a:avLst>
          </a:prstGeom>
          <a:solidFill>
            <a:srgbClr val="EDF2F8"/>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73952" y="4297680"/>
            <a:ext cx="457200" cy="45720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500">
                <a:solidFill>
                  <a:srgbClr val="FFFFFF"/>
                </a:solidFill>
                <a:latin typeface="Cambria"/>
              </a:rPr>
              <a:t>D</a:t>
            </a:r>
          </a:p>
        </p:txBody>
      </p:sp>
      <p:sp>
        <p:nvSpPr>
          <p:cNvPr id="18" name="TextBox 17"/>
          <p:cNvSpPr txBox="1"/>
          <p:nvPr/>
        </p:nvSpPr>
        <p:spPr>
          <a:xfrm>
            <a:off x="7114032" y="4297680"/>
            <a:ext cx="4251960" cy="457200"/>
          </a:xfrm>
          <a:prstGeom prst="rect">
            <a:avLst/>
          </a:prstGeom>
          <a:noFill/>
        </p:spPr>
        <p:txBody>
          <a:bodyPr wrap="square" lIns="0" rIns="0" tIns="0" bIns="0" anchor="ctr">
            <a:spAutoFit/>
          </a:bodyPr>
          <a:lstStyle/>
          <a:p>
            <a:pPr algn="l"/>
            <a:r>
              <a:rPr sz="2000" b="1" i="0">
                <a:solidFill>
                  <a:srgbClr val="0D2B52"/>
                </a:solidFill>
                <a:latin typeface="Cambria"/>
              </a:rPr>
              <a:t>Checks</a:t>
            </a:r>
          </a:p>
        </p:txBody>
      </p:sp>
      <p:sp>
        <p:nvSpPr>
          <p:cNvPr id="19" name="TextBox 18"/>
          <p:cNvSpPr txBox="1"/>
          <p:nvPr/>
        </p:nvSpPr>
        <p:spPr>
          <a:xfrm>
            <a:off x="7114032" y="4892040"/>
            <a:ext cx="4251960" cy="1188719"/>
          </a:xfrm>
          <a:prstGeom prst="rect">
            <a:avLst/>
          </a:prstGeom>
          <a:noFill/>
        </p:spPr>
        <p:txBody>
          <a:bodyPr wrap="square" lIns="0" rIns="0" tIns="0" bIns="0" anchor="t">
            <a:spAutoFit/>
          </a:bodyPr>
          <a:lstStyle/>
          <a:p>
            <a:pPr algn="l" marL="201168" indent="-201168">
              <a:spcAft>
                <a:spcPts val="400"/>
              </a:spcAft>
              <a:buChar char="•"/>
            </a:pPr>
            <a:r>
              <a:rPr sz="1500" b="0" i="0">
                <a:solidFill>
                  <a:srgbClr val="1F2A37"/>
                </a:solidFill>
                <a:latin typeface="Calibri"/>
              </a:rPr>
              <a:t>16 sensitivity runs varying every assumption</a:t>
            </a:r>
          </a:p>
          <a:p>
            <a:pPr algn="l" marL="201168" indent="-201168">
              <a:spcAft>
                <a:spcPts val="400"/>
              </a:spcAft>
              <a:buChar char="•"/>
            </a:pPr>
            <a:r>
              <a:rPr sz="1500" b="0" i="0">
                <a:solidFill>
                  <a:srgbClr val="1F2A37"/>
                </a:solidFill>
                <a:latin typeface="Calibri"/>
              </a:rPr>
              <a:t>Validation against DHS 2016 (15 regions)</a:t>
            </a:r>
          </a:p>
          <a:p>
            <a:pPr algn="l" marL="201168" indent="-201168">
              <a:spcAft>
                <a:spcPts val="400"/>
              </a:spcAft>
              <a:buChar char="•"/>
            </a:pPr>
            <a:r>
              <a:rPr sz="1500" b="0" i="0">
                <a:solidFill>
                  <a:srgbClr val="1F2A37"/>
                </a:solidFill>
                <a:latin typeface="Calibri"/>
              </a:rPr>
              <a:t>72 river crossings ranked by time saved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WHEN</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April adds ~2.3 million people beyond an hour of a hospital</a:t>
            </a:r>
          </a:p>
        </p:txBody>
      </p:sp>
      <p:sp>
        <p:nvSpPr>
          <p:cNvPr id="4" name="TextBox 3"/>
          <p:cNvSpPr txBox="1"/>
          <p:nvPr/>
        </p:nvSpPr>
        <p:spPr>
          <a:xfrm>
            <a:off x="548640" y="1645920"/>
            <a:ext cx="3108960" cy="731520"/>
          </a:xfrm>
          <a:prstGeom prst="rect">
            <a:avLst/>
          </a:prstGeom>
          <a:noFill/>
        </p:spPr>
        <p:txBody>
          <a:bodyPr wrap="square" lIns="0" rIns="0" tIns="0" bIns="0" anchor="t">
            <a:spAutoFit/>
          </a:bodyPr>
          <a:lstStyle/>
          <a:p>
            <a:pPr algn="l"/>
            <a:r>
              <a:rPr sz="4800" b="1" i="0">
                <a:solidFill>
                  <a:srgbClr val="2F6FB5"/>
                </a:solidFill>
                <a:latin typeface="Cambria"/>
              </a:rPr>
              <a:t>13.1%</a:t>
            </a:r>
          </a:p>
        </p:txBody>
      </p:sp>
      <p:sp>
        <p:nvSpPr>
          <p:cNvPr id="5" name="TextBox 4"/>
          <p:cNvSpPr txBox="1"/>
          <p:nvPr/>
        </p:nvSpPr>
        <p:spPr>
          <a:xfrm>
            <a:off x="566928" y="2395728"/>
            <a:ext cx="3108960" cy="365760"/>
          </a:xfrm>
          <a:prstGeom prst="rect">
            <a:avLst/>
          </a:prstGeom>
          <a:noFill/>
        </p:spPr>
        <p:txBody>
          <a:bodyPr wrap="square" lIns="0" rIns="0" tIns="0" bIns="0" anchor="t">
            <a:spAutoFit/>
          </a:bodyPr>
          <a:lstStyle/>
          <a:p>
            <a:pPr algn="l"/>
            <a:r>
              <a:rPr sz="1400" b="0" i="0">
                <a:solidFill>
                  <a:srgbClr val="5B6573"/>
                </a:solidFill>
                <a:latin typeface="Calibri"/>
              </a:rPr>
              <a:t>every day dry</a:t>
            </a:r>
          </a:p>
        </p:txBody>
      </p:sp>
      <p:sp>
        <p:nvSpPr>
          <p:cNvPr id="6" name="TextBox 5"/>
          <p:cNvSpPr txBox="1"/>
          <p:nvPr/>
        </p:nvSpPr>
        <p:spPr>
          <a:xfrm>
            <a:off x="548640" y="3063240"/>
            <a:ext cx="3108960" cy="731520"/>
          </a:xfrm>
          <a:prstGeom prst="rect">
            <a:avLst/>
          </a:prstGeom>
          <a:noFill/>
        </p:spPr>
        <p:txBody>
          <a:bodyPr wrap="square" lIns="0" rIns="0" tIns="0" bIns="0" anchor="t">
            <a:spAutoFit/>
          </a:bodyPr>
          <a:lstStyle/>
          <a:p>
            <a:pPr algn="l"/>
            <a:r>
              <a:rPr sz="4800" b="1" i="0">
                <a:solidFill>
                  <a:srgbClr val="B5451B"/>
                </a:solidFill>
                <a:latin typeface="Cambria"/>
              </a:rPr>
              <a:t>18.1%</a:t>
            </a:r>
          </a:p>
        </p:txBody>
      </p:sp>
      <p:sp>
        <p:nvSpPr>
          <p:cNvPr id="7" name="TextBox 6"/>
          <p:cNvSpPr txBox="1"/>
          <p:nvPr/>
        </p:nvSpPr>
        <p:spPr>
          <a:xfrm>
            <a:off x="566928" y="3813048"/>
            <a:ext cx="3108960" cy="365760"/>
          </a:xfrm>
          <a:prstGeom prst="rect">
            <a:avLst/>
          </a:prstGeom>
          <a:noFill/>
        </p:spPr>
        <p:txBody>
          <a:bodyPr wrap="square" lIns="0" rIns="0" tIns="0" bIns="0" anchor="t">
            <a:spAutoFit/>
          </a:bodyPr>
          <a:lstStyle/>
          <a:p>
            <a:pPr algn="l"/>
            <a:r>
              <a:rPr sz="1400" b="0" i="0">
                <a:solidFill>
                  <a:srgbClr val="5B6573"/>
                </a:solidFill>
                <a:latin typeface="Calibri"/>
              </a:rPr>
              <a:t>April, peak of the long rains</a:t>
            </a:r>
          </a:p>
        </p:txBody>
      </p:sp>
      <p:sp>
        <p:nvSpPr>
          <p:cNvPr id="8" name="TextBox 7"/>
          <p:cNvSpPr txBox="1"/>
          <p:nvPr/>
        </p:nvSpPr>
        <p:spPr>
          <a:xfrm>
            <a:off x="548640" y="4480560"/>
            <a:ext cx="3108960" cy="731520"/>
          </a:xfrm>
          <a:prstGeom prst="rect">
            <a:avLst/>
          </a:prstGeom>
          <a:noFill/>
        </p:spPr>
        <p:txBody>
          <a:bodyPr wrap="square" lIns="0" rIns="0" tIns="0" bIns="0" anchor="t">
            <a:spAutoFit/>
          </a:bodyPr>
          <a:lstStyle/>
          <a:p>
            <a:pPr algn="l"/>
            <a:r>
              <a:rPr sz="4800" b="1" i="0">
                <a:solidFill>
                  <a:srgbClr val="0D2B52"/>
                </a:solidFill>
                <a:latin typeface="Cambria"/>
              </a:rPr>
              <a:t>30.5%</a:t>
            </a:r>
          </a:p>
        </p:txBody>
      </p:sp>
      <p:sp>
        <p:nvSpPr>
          <p:cNvPr id="9" name="TextBox 8"/>
          <p:cNvSpPr txBox="1"/>
          <p:nvPr/>
        </p:nvSpPr>
        <p:spPr>
          <a:xfrm>
            <a:off x="566928" y="5230368"/>
            <a:ext cx="3108960" cy="365760"/>
          </a:xfrm>
          <a:prstGeom prst="rect">
            <a:avLst/>
          </a:prstGeom>
          <a:noFill/>
        </p:spPr>
        <p:txBody>
          <a:bodyPr wrap="square" lIns="0" rIns="0" tIns="0" bIns="0" anchor="t">
            <a:spAutoFit/>
          </a:bodyPr>
          <a:lstStyle/>
          <a:p>
            <a:pPr algn="l"/>
            <a:r>
              <a:rPr sz="1400" b="0" i="0">
                <a:solidFill>
                  <a:srgbClr val="5B6573"/>
                </a:solidFill>
                <a:latin typeface="Calibri"/>
              </a:rPr>
              <a:t>every day wet</a:t>
            </a:r>
          </a:p>
        </p:txBody>
      </p:sp>
      <p:sp>
        <p:nvSpPr>
          <p:cNvPr id="10" name="TextBox 9"/>
          <p:cNvSpPr txBox="1"/>
          <p:nvPr/>
        </p:nvSpPr>
        <p:spPr>
          <a:xfrm>
            <a:off x="548640" y="5897880"/>
            <a:ext cx="3200400" cy="457200"/>
          </a:xfrm>
          <a:prstGeom prst="rect">
            <a:avLst/>
          </a:prstGeom>
          <a:noFill/>
        </p:spPr>
        <p:txBody>
          <a:bodyPr wrap="square" lIns="0" rIns="0" tIns="0" bIns="0" anchor="t">
            <a:spAutoFit/>
          </a:bodyPr>
          <a:lstStyle/>
          <a:p>
            <a:pPr algn="l"/>
            <a:r>
              <a:rPr sz="1200" b="0" i="1">
                <a:solidFill>
                  <a:srgbClr val="1F2A37"/>
                </a:solidFill>
                <a:latin typeface="Calibri"/>
              </a:rPr>
              <a:t>of Ugandans more than 1 hour from a hospital by road</a:t>
            </a:r>
          </a:p>
        </p:txBody>
      </p:sp>
      <p:graphicFrame>
        <p:nvGraphicFramePr>
          <p:cNvPr id="11" name="Chart 10"/>
          <p:cNvGraphicFramePr>
            <a:graphicFrameLocks noGrp="1"/>
          </p:cNvGraphicFramePr>
          <p:nvPr/>
        </p:nvGraphicFramePr>
        <p:xfrm>
          <a:off x="3931920" y="1554480"/>
          <a:ext cx="7726679" cy="4754880"/>
        </p:xfrm>
        <a:graphic>
          <a:graphicData uri="http://schemas.openxmlformats.org/drawingml/2006/chart">
            <c:chart xmlns:c="http://schemas.openxmlformats.org/drawingml/2006/chart" r:id="rId2"/>
          </a:graphicData>
        </a:graphic>
      </p:graphicFrame>
      <p:sp>
        <p:nvSpPr>
          <p:cNvPr id="12" name="TextBox 11"/>
          <p:cNvSpPr txBox="1"/>
          <p:nvPr/>
        </p:nvSpPr>
        <p:spPr>
          <a:xfrm>
            <a:off x="548640" y="6400800"/>
            <a:ext cx="11064240" cy="274320"/>
          </a:xfrm>
          <a:prstGeom prst="rect">
            <a:avLst/>
          </a:prstGeom>
          <a:noFill/>
        </p:spPr>
        <p:txBody>
          <a:bodyPr wrap="square" lIns="0" rIns="0" tIns="0" bIns="0" anchor="t">
            <a:spAutoFit/>
          </a:bodyPr>
          <a:lstStyle/>
          <a:p>
            <a:pPr algn="l"/>
            <a:r>
              <a:rPr sz="1000" b="0" i="1">
                <a:solidFill>
                  <a:srgbClr val="5B6573"/>
                </a:solidFill>
                <a:latin typeface="Calibri"/>
              </a:rPr>
              <a:t>Share of population more than 1 hour from a hospital by road. April is the worst month in 79 of 135 districts. Sources: OSM; MoH facility list; WorldPop 2020; CHIRPS 2006–2025.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WHERE</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On a wet day, the one-hour hospital zone shrinks sharply</a:t>
            </a:r>
          </a:p>
        </p:txBody>
      </p:sp>
      <p:pic>
        <p:nvPicPr>
          <p:cNvPr id="4" name="Picture 3" descr="m01_hospital_dry_wet.png"/>
          <p:cNvPicPr>
            <a:picLocks noChangeAspect="1"/>
          </p:cNvPicPr>
          <p:nvPr/>
        </p:nvPicPr>
        <p:blipFill>
          <a:blip r:embed="rId2"/>
          <a:srcRect/>
          <a:stretch>
            <a:fillRect/>
          </a:stretch>
        </p:blipFill>
        <p:spPr>
          <a:xfrm>
            <a:off x="411480" y="1498913"/>
            <a:ext cx="8778240" cy="4728852"/>
          </a:xfrm>
          <a:prstGeom prst="rect">
            <a:avLst/>
          </a:prstGeom>
        </p:spPr>
      </p:pic>
      <p:sp>
        <p:nvSpPr>
          <p:cNvPr id="5" name="Rounded Rectangle 4"/>
          <p:cNvSpPr/>
          <p:nvPr/>
        </p:nvSpPr>
        <p:spPr>
          <a:xfrm>
            <a:off x="9418320" y="1737360"/>
            <a:ext cx="2221992" cy="4297680"/>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46920" y="1965960"/>
            <a:ext cx="1828800" cy="3931920"/>
          </a:xfrm>
          <a:prstGeom prst="rect">
            <a:avLst/>
          </a:prstGeom>
          <a:noFill/>
        </p:spPr>
        <p:txBody>
          <a:bodyPr wrap="square" lIns="0" rIns="0" tIns="0" bIns="0" anchor="t">
            <a:spAutoFit/>
          </a:bodyPr>
          <a:lstStyle/>
          <a:p>
            <a:pPr algn="l"/>
            <a:r>
              <a:rPr sz="2000" b="1" i="0">
                <a:solidFill>
                  <a:srgbClr val="B5451B"/>
                </a:solidFill>
                <a:latin typeface="Cambria"/>
              </a:rPr>
              <a:t>13.1% → 30.5%</a:t>
            </a:r>
          </a:p>
          <a:p>
            <a:pPr algn="l"/>
            <a:r>
              <a:rPr sz="1300" b="0" i="0">
                <a:solidFill>
                  <a:srgbClr val="1F2A37"/>
                </a:solidFill>
                <a:latin typeface="Calibri"/>
              </a:rPr>
              <a:t>of people beyond 1 hour, dry vs fully wet.</a:t>
            </a:r>
          </a:p>
          <a:p>
            <a:pPr algn="l"/>
            <a:r>
              <a:rPr sz="1300" b="0" i="0">
                <a:solidFill>
                  <a:srgbClr val="1F2A37"/>
                </a:solidFill>
                <a:latin typeface="Calibri"/>
              </a:rPr>
              <a:t/>
            </a:r>
          </a:p>
          <a:p>
            <a:pPr algn="l"/>
            <a:r>
              <a:rPr sz="1300" b="1" i="0">
                <a:solidFill>
                  <a:srgbClr val="0D2B52"/>
                </a:solidFill>
                <a:latin typeface="Calibri"/>
              </a:rPr>
              <a:t>Hardest hit</a:t>
            </a:r>
          </a:p>
          <a:p>
            <a:pPr algn="l"/>
            <a:r>
              <a:rPr sz="1300" b="0" i="0">
                <a:solidFill>
                  <a:srgbClr val="1F2A37"/>
                </a:solidFill>
                <a:latin typeface="Calibri"/>
              </a:rPr>
              <a:t>The north-east (Karamoja), the west and the Lake Kyoga basin, where hospitals are sparse and roads unpaved.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FOR WHOM</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The rains fall on everyone, but the burden doesn't</a:t>
            </a:r>
          </a:p>
        </p:txBody>
      </p:sp>
      <p:graphicFrame>
        <p:nvGraphicFramePr>
          <p:cNvPr id="4" name="Chart 3"/>
          <p:cNvGraphicFramePr>
            <a:graphicFrameLocks noGrp="1"/>
          </p:cNvGraphicFramePr>
          <p:nvPr/>
        </p:nvGraphicFramePr>
        <p:xfrm>
          <a:off x="457200" y="1508760"/>
          <a:ext cx="6949440" cy="4800600"/>
        </p:xfrm>
        <a:graphic>
          <a:graphicData uri="http://schemas.openxmlformats.org/drawingml/2006/chart">
            <c:chart xmlns:c="http://schemas.openxmlformats.org/drawingml/2006/chart" r:id="rId2"/>
          </a:graphicData>
        </a:graphic>
      </p:graphicFrame>
      <p:sp>
        <p:nvSpPr>
          <p:cNvPr id="5" name="Rounded Rectangle 4"/>
          <p:cNvSpPr/>
          <p:nvPr/>
        </p:nvSpPr>
        <p:spPr>
          <a:xfrm>
            <a:off x="7726679" y="1600200"/>
            <a:ext cx="3913632" cy="1481328"/>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737360"/>
            <a:ext cx="3474720" cy="274320"/>
          </a:xfrm>
          <a:prstGeom prst="rect">
            <a:avLst/>
          </a:prstGeom>
          <a:noFill/>
        </p:spPr>
        <p:txBody>
          <a:bodyPr wrap="square" lIns="0" rIns="0" tIns="0" bIns="0" anchor="t">
            <a:spAutoFit/>
          </a:bodyPr>
          <a:lstStyle/>
          <a:p>
            <a:pPr algn="l"/>
            <a:r>
              <a:rPr sz="1100" b="1" i="0">
                <a:solidFill>
                  <a:srgbClr val="5B6573"/>
                </a:solidFill>
                <a:latin typeface="Calibri"/>
              </a:rPr>
              <a:t>POOREST FIFTH</a:t>
            </a:r>
          </a:p>
        </p:txBody>
      </p:sp>
      <p:sp>
        <p:nvSpPr>
          <p:cNvPr id="7" name="TextBox 6"/>
          <p:cNvSpPr txBox="1"/>
          <p:nvPr/>
        </p:nvSpPr>
        <p:spPr>
          <a:xfrm>
            <a:off x="7955279" y="1984248"/>
            <a:ext cx="3474720" cy="457200"/>
          </a:xfrm>
          <a:prstGeom prst="rect">
            <a:avLst/>
          </a:prstGeom>
          <a:noFill/>
        </p:spPr>
        <p:txBody>
          <a:bodyPr wrap="square" lIns="0" rIns="0" tIns="0" bIns="0" anchor="t">
            <a:spAutoFit/>
          </a:bodyPr>
          <a:lstStyle/>
          <a:p>
            <a:pPr algn="l"/>
            <a:r>
              <a:rPr sz="2400" b="1" i="0">
                <a:solidFill>
                  <a:srgbClr val="B5451B"/>
                </a:solidFill>
                <a:latin typeface="Cambria"/>
              </a:rPr>
              <a:t>23% → 32%</a:t>
            </a:r>
          </a:p>
        </p:txBody>
      </p:sp>
      <p:sp>
        <p:nvSpPr>
          <p:cNvPr id="8" name="TextBox 7"/>
          <p:cNvSpPr txBox="1"/>
          <p:nvPr/>
        </p:nvSpPr>
        <p:spPr>
          <a:xfrm>
            <a:off x="7955279" y="2468880"/>
            <a:ext cx="3520440" cy="594360"/>
          </a:xfrm>
          <a:prstGeom prst="rect">
            <a:avLst/>
          </a:prstGeom>
          <a:noFill/>
        </p:spPr>
        <p:txBody>
          <a:bodyPr wrap="square" lIns="0" rIns="0" tIns="0" bIns="0" anchor="t">
            <a:spAutoFit/>
          </a:bodyPr>
          <a:lstStyle/>
          <a:p>
            <a:pPr algn="l"/>
            <a:r>
              <a:rPr sz="1200" b="0" i="0">
                <a:solidFill>
                  <a:srgbClr val="1F2A37"/>
                </a:solidFill>
                <a:latin typeface="Calibri"/>
              </a:rPr>
              <a:t>beyond 1 h of a hospital, dry vs April. On foot to any facility: 30% → 36%.</a:t>
            </a:r>
          </a:p>
        </p:txBody>
      </p:sp>
      <p:sp>
        <p:nvSpPr>
          <p:cNvPr id="9" name="Rounded Rectangle 8"/>
          <p:cNvSpPr/>
          <p:nvPr/>
        </p:nvSpPr>
        <p:spPr>
          <a:xfrm>
            <a:off x="7726679" y="3218688"/>
            <a:ext cx="3913632" cy="1481328"/>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79" y="3355848"/>
            <a:ext cx="3474720" cy="274320"/>
          </a:xfrm>
          <a:prstGeom prst="rect">
            <a:avLst/>
          </a:prstGeom>
          <a:noFill/>
        </p:spPr>
        <p:txBody>
          <a:bodyPr wrap="square" lIns="0" rIns="0" tIns="0" bIns="0" anchor="t">
            <a:spAutoFit/>
          </a:bodyPr>
          <a:lstStyle/>
          <a:p>
            <a:pPr algn="l"/>
            <a:r>
              <a:rPr sz="1100" b="1" i="0">
                <a:solidFill>
                  <a:srgbClr val="5B6573"/>
                </a:solidFill>
                <a:latin typeface="Calibri"/>
              </a:rPr>
              <a:t>RICHEST FIFTH</a:t>
            </a:r>
          </a:p>
        </p:txBody>
      </p:sp>
      <p:sp>
        <p:nvSpPr>
          <p:cNvPr id="11" name="TextBox 10"/>
          <p:cNvSpPr txBox="1"/>
          <p:nvPr/>
        </p:nvSpPr>
        <p:spPr>
          <a:xfrm>
            <a:off x="7955279" y="3602736"/>
            <a:ext cx="3474720" cy="457200"/>
          </a:xfrm>
          <a:prstGeom prst="rect">
            <a:avLst/>
          </a:prstGeom>
          <a:noFill/>
        </p:spPr>
        <p:txBody>
          <a:bodyPr wrap="square" lIns="0" rIns="0" tIns="0" bIns="0" anchor="t">
            <a:spAutoFit/>
          </a:bodyPr>
          <a:lstStyle/>
          <a:p>
            <a:pPr algn="l"/>
            <a:r>
              <a:rPr sz="2400" b="1" i="0">
                <a:solidFill>
                  <a:srgbClr val="B5451B"/>
                </a:solidFill>
                <a:latin typeface="Cambria"/>
              </a:rPr>
              <a:t>0.8% → 1.0%</a:t>
            </a:r>
          </a:p>
        </p:txBody>
      </p:sp>
      <p:sp>
        <p:nvSpPr>
          <p:cNvPr id="12" name="TextBox 11"/>
          <p:cNvSpPr txBox="1"/>
          <p:nvPr/>
        </p:nvSpPr>
        <p:spPr>
          <a:xfrm>
            <a:off x="7955279" y="4087368"/>
            <a:ext cx="3520440" cy="594360"/>
          </a:xfrm>
          <a:prstGeom prst="rect">
            <a:avLst/>
          </a:prstGeom>
          <a:noFill/>
        </p:spPr>
        <p:txBody>
          <a:bodyPr wrap="square" lIns="0" rIns="0" tIns="0" bIns="0" anchor="t">
            <a:spAutoFit/>
          </a:bodyPr>
          <a:lstStyle/>
          <a:p>
            <a:pPr algn="l"/>
            <a:r>
              <a:rPr sz="1200" b="0" i="0">
                <a:solidFill>
                  <a:srgbClr val="1F2A37"/>
                </a:solidFill>
                <a:latin typeface="Calibri"/>
              </a:rPr>
              <a:t>the seasons barely touch them.</a:t>
            </a:r>
          </a:p>
        </p:txBody>
      </p:sp>
      <p:sp>
        <p:nvSpPr>
          <p:cNvPr id="13" name="Rounded Rectangle 12"/>
          <p:cNvSpPr/>
          <p:nvPr/>
        </p:nvSpPr>
        <p:spPr>
          <a:xfrm>
            <a:off x="7726679" y="4837176"/>
            <a:ext cx="3913632" cy="1481328"/>
          </a:xfrm>
          <a:prstGeom prst="roundRect">
            <a:avLst>
              <a:gd name="adj" fmla="val 6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4974336"/>
            <a:ext cx="3474720" cy="274320"/>
          </a:xfrm>
          <a:prstGeom prst="rect">
            <a:avLst/>
          </a:prstGeom>
          <a:noFill/>
        </p:spPr>
        <p:txBody>
          <a:bodyPr wrap="square" lIns="0" rIns="0" tIns="0" bIns="0" anchor="t">
            <a:spAutoFit/>
          </a:bodyPr>
          <a:lstStyle/>
          <a:p>
            <a:pPr algn="l"/>
            <a:r>
              <a:rPr sz="1100" b="1" i="0">
                <a:solidFill>
                  <a:srgbClr val="5B6573"/>
                </a:solidFill>
                <a:latin typeface="Calibri"/>
              </a:rPr>
              <a:t>REFUGEE-HOSTING SUB-COUNTIES</a:t>
            </a:r>
          </a:p>
        </p:txBody>
      </p:sp>
      <p:sp>
        <p:nvSpPr>
          <p:cNvPr id="15" name="TextBox 14"/>
          <p:cNvSpPr txBox="1"/>
          <p:nvPr/>
        </p:nvSpPr>
        <p:spPr>
          <a:xfrm>
            <a:off x="7955279" y="5221224"/>
            <a:ext cx="3474720" cy="457200"/>
          </a:xfrm>
          <a:prstGeom prst="rect">
            <a:avLst/>
          </a:prstGeom>
          <a:noFill/>
        </p:spPr>
        <p:txBody>
          <a:bodyPr wrap="square" lIns="0" rIns="0" tIns="0" bIns="0" anchor="t">
            <a:spAutoFit/>
          </a:bodyPr>
          <a:lstStyle/>
          <a:p>
            <a:pPr algn="l"/>
            <a:r>
              <a:rPr sz="2400" b="1" i="0">
                <a:solidFill>
                  <a:srgbClr val="B5451B"/>
                </a:solidFill>
                <a:latin typeface="Cambria"/>
              </a:rPr>
              <a:t>22% → 33%</a:t>
            </a:r>
          </a:p>
        </p:txBody>
      </p:sp>
      <p:sp>
        <p:nvSpPr>
          <p:cNvPr id="16" name="TextBox 15"/>
          <p:cNvSpPr txBox="1"/>
          <p:nvPr/>
        </p:nvSpPr>
        <p:spPr>
          <a:xfrm>
            <a:off x="7955279" y="5705856"/>
            <a:ext cx="3520440" cy="594360"/>
          </a:xfrm>
          <a:prstGeom prst="rect">
            <a:avLst/>
          </a:prstGeom>
          <a:noFill/>
        </p:spPr>
        <p:txBody>
          <a:bodyPr wrap="square" lIns="0" rIns="0" tIns="0" bIns="0" anchor="t">
            <a:spAutoFit/>
          </a:bodyPr>
          <a:lstStyle/>
          <a:p>
            <a:pPr algn="l"/>
            <a:r>
              <a:rPr sz="1200" b="0" i="0">
                <a:solidFill>
                  <a:srgbClr val="1F2A37"/>
                </a:solidFill>
                <a:latin typeface="Calibri"/>
              </a:rPr>
              <a:t>against 13% → 18% elsewhere (14 sub-counties with an OSM refugee site).</a:t>
            </a:r>
          </a:p>
        </p:txBody>
      </p:sp>
      <p:sp>
        <p:nvSpPr>
          <p:cNvPr id="17" name="TextBox 16"/>
          <p:cNvSpPr txBox="1"/>
          <p:nvPr/>
        </p:nvSpPr>
        <p:spPr>
          <a:xfrm>
            <a:off x="548640" y="6400800"/>
            <a:ext cx="11064240" cy="274320"/>
          </a:xfrm>
          <a:prstGeom prst="rect">
            <a:avLst/>
          </a:prstGeom>
          <a:noFill/>
        </p:spPr>
        <p:txBody>
          <a:bodyPr wrap="square" lIns="0" rIns="0" tIns="0" bIns="0" anchor="t">
            <a:spAutoFit/>
          </a:bodyPr>
          <a:lstStyle/>
          <a:p>
            <a:pPr algn="l"/>
            <a:r>
              <a:rPr sz="1000" b="0" i="1">
                <a:solidFill>
                  <a:srgbClr val="5B6573"/>
                </a:solidFill>
                <a:latin typeface="Calibri"/>
              </a:rPr>
              <a:t>Share more than 1 hour from a hospital by road, by Relative Wealth Index quintile.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FOR WHOM</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Walking, not roads, is the barrier to obstetric care</a:t>
            </a:r>
          </a:p>
        </p:txBody>
      </p:sp>
      <p:pic>
        <p:nvPicPr>
          <p:cNvPr id="4" name="Picture 3" descr="m04_emoc_motorised_walking.png"/>
          <p:cNvPicPr>
            <a:picLocks noChangeAspect="1"/>
          </p:cNvPicPr>
          <p:nvPr/>
        </p:nvPicPr>
        <p:blipFill>
          <a:blip r:embed="rId2"/>
          <a:stretch>
            <a:fillRect/>
          </a:stretch>
        </p:blipFill>
        <p:spPr>
          <a:xfrm>
            <a:off x="1211076" y="1371600"/>
            <a:ext cx="9785086" cy="3977639"/>
          </a:xfrm>
          <a:prstGeom prst="rect">
            <a:avLst/>
          </a:prstGeom>
        </p:spPr>
      </p:pic>
      <p:sp>
        <p:nvSpPr>
          <p:cNvPr id="5" name="TextBox 4"/>
          <p:cNvSpPr txBox="1"/>
          <p:nvPr/>
        </p:nvSpPr>
        <p:spPr>
          <a:xfrm>
            <a:off x="548640" y="5440680"/>
            <a:ext cx="3474720" cy="457200"/>
          </a:xfrm>
          <a:prstGeom prst="rect">
            <a:avLst/>
          </a:prstGeom>
          <a:noFill/>
        </p:spPr>
        <p:txBody>
          <a:bodyPr wrap="square" lIns="0" rIns="0" tIns="0" bIns="0" anchor="t">
            <a:spAutoFit/>
          </a:bodyPr>
          <a:lstStyle/>
          <a:p>
            <a:pPr algn="l"/>
            <a:r>
              <a:rPr sz="2400" b="1" i="0">
                <a:solidFill>
                  <a:srgbClr val="2F6FB5"/>
                </a:solidFill>
                <a:latin typeface="Cambria"/>
              </a:rPr>
              <a:t>0.9% → 1.2%</a:t>
            </a:r>
          </a:p>
        </p:txBody>
      </p:sp>
      <p:sp>
        <p:nvSpPr>
          <p:cNvPr id="6" name="TextBox 5"/>
          <p:cNvSpPr txBox="1"/>
          <p:nvPr/>
        </p:nvSpPr>
        <p:spPr>
          <a:xfrm>
            <a:off x="548640" y="5943600"/>
            <a:ext cx="3474720" cy="457200"/>
          </a:xfrm>
          <a:prstGeom prst="rect">
            <a:avLst/>
          </a:prstGeom>
          <a:noFill/>
        </p:spPr>
        <p:txBody>
          <a:bodyPr wrap="square" lIns="0" rIns="0" tIns="0" bIns="0" anchor="t">
            <a:spAutoFit/>
          </a:bodyPr>
          <a:lstStyle/>
          <a:p>
            <a:pPr algn="l"/>
            <a:r>
              <a:rPr sz="1300" b="0" i="0">
                <a:solidFill>
                  <a:srgbClr val="1F2A37"/>
                </a:solidFill>
                <a:latin typeface="Calibri"/>
              </a:rPr>
              <a:t>of women 15–49 more than 2 h away by road (dry → April)</a:t>
            </a:r>
          </a:p>
        </p:txBody>
      </p:sp>
      <p:sp>
        <p:nvSpPr>
          <p:cNvPr id="7" name="TextBox 6"/>
          <p:cNvSpPr txBox="1"/>
          <p:nvPr/>
        </p:nvSpPr>
        <p:spPr>
          <a:xfrm>
            <a:off x="4297679" y="5440680"/>
            <a:ext cx="3474720" cy="457200"/>
          </a:xfrm>
          <a:prstGeom prst="rect">
            <a:avLst/>
          </a:prstGeom>
          <a:noFill/>
        </p:spPr>
        <p:txBody>
          <a:bodyPr wrap="square" lIns="0" rIns="0" tIns="0" bIns="0" anchor="t">
            <a:spAutoFit/>
          </a:bodyPr>
          <a:lstStyle/>
          <a:p>
            <a:pPr algn="l"/>
            <a:r>
              <a:rPr sz="2400" b="1" i="0">
                <a:solidFill>
                  <a:srgbClr val="B5451B"/>
                </a:solidFill>
                <a:latin typeface="Cambria"/>
              </a:rPr>
              <a:t>41% → 43%</a:t>
            </a:r>
          </a:p>
        </p:txBody>
      </p:sp>
      <p:sp>
        <p:nvSpPr>
          <p:cNvPr id="8" name="TextBox 7"/>
          <p:cNvSpPr txBox="1"/>
          <p:nvPr/>
        </p:nvSpPr>
        <p:spPr>
          <a:xfrm>
            <a:off x="4297679" y="5943600"/>
            <a:ext cx="3474720" cy="457200"/>
          </a:xfrm>
          <a:prstGeom prst="rect">
            <a:avLst/>
          </a:prstGeom>
          <a:noFill/>
        </p:spPr>
        <p:txBody>
          <a:bodyPr wrap="square" lIns="0" rIns="0" tIns="0" bIns="0" anchor="t">
            <a:spAutoFit/>
          </a:bodyPr>
          <a:lstStyle/>
          <a:p>
            <a:pPr algn="l"/>
            <a:r>
              <a:rPr sz="1300" b="0" i="0">
                <a:solidFill>
                  <a:srgbClr val="1F2A37"/>
                </a:solidFill>
                <a:latin typeface="Calibri"/>
              </a:rPr>
              <a:t>more than 2 h away on foot (dry → April)</a:t>
            </a:r>
          </a:p>
        </p:txBody>
      </p:sp>
      <p:sp>
        <p:nvSpPr>
          <p:cNvPr id="9" name="TextBox 8"/>
          <p:cNvSpPr txBox="1"/>
          <p:nvPr/>
        </p:nvSpPr>
        <p:spPr>
          <a:xfrm>
            <a:off x="8046719" y="5440680"/>
            <a:ext cx="3474720" cy="457200"/>
          </a:xfrm>
          <a:prstGeom prst="rect">
            <a:avLst/>
          </a:prstGeom>
          <a:noFill/>
        </p:spPr>
        <p:txBody>
          <a:bodyPr wrap="square" lIns="0" rIns="0" tIns="0" bIns="0" anchor="t">
            <a:spAutoFit/>
          </a:bodyPr>
          <a:lstStyle/>
          <a:p>
            <a:pPr algn="l"/>
            <a:r>
              <a:rPr sz="2400" b="1" i="0">
                <a:solidFill>
                  <a:srgbClr val="0D2B52"/>
                </a:solidFill>
                <a:latin typeface="Cambria"/>
              </a:rPr>
              <a:t>16.5% → 19.9%</a:t>
            </a:r>
          </a:p>
        </p:txBody>
      </p:sp>
      <p:sp>
        <p:nvSpPr>
          <p:cNvPr id="10" name="TextBox 9"/>
          <p:cNvSpPr txBox="1"/>
          <p:nvPr/>
        </p:nvSpPr>
        <p:spPr>
          <a:xfrm>
            <a:off x="8046719" y="5943600"/>
            <a:ext cx="3474720" cy="457200"/>
          </a:xfrm>
          <a:prstGeom prst="rect">
            <a:avLst/>
          </a:prstGeom>
          <a:noFill/>
        </p:spPr>
        <p:txBody>
          <a:bodyPr wrap="square" lIns="0" rIns="0" tIns="0" bIns="0" anchor="t">
            <a:spAutoFit/>
          </a:bodyPr>
          <a:lstStyle/>
          <a:p>
            <a:pPr algn="l"/>
            <a:r>
              <a:rPr sz="1300" b="0" i="0">
                <a:solidFill>
                  <a:srgbClr val="1F2A37"/>
                </a:solidFill>
                <a:latin typeface="Calibri"/>
              </a:rPr>
              <a:t>of everyone more than 1 h on foot from any facility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WHERE</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The loss concentrates in a few catchments and sub-counties</a:t>
            </a:r>
          </a:p>
        </p:txBody>
      </p:sp>
      <p:graphicFrame>
        <p:nvGraphicFramePr>
          <p:cNvPr id="4" name="Chart 3"/>
          <p:cNvGraphicFramePr>
            <a:graphicFrameLocks noGrp="1"/>
          </p:cNvGraphicFramePr>
          <p:nvPr/>
        </p:nvGraphicFramePr>
        <p:xfrm>
          <a:off x="457200" y="1920240"/>
          <a:ext cx="6035040" cy="4343400"/>
        </p:xfrm>
        <a:graphic>
          <a:graphicData uri="http://schemas.openxmlformats.org/drawingml/2006/chart">
            <c:chart xmlns:c="http://schemas.openxmlformats.org/drawingml/2006/chart" r:id="rId2"/>
          </a:graphicData>
        </a:graphic>
      </p:graphicFrame>
      <p:sp>
        <p:nvSpPr>
          <p:cNvPr id="5" name="TextBox 4"/>
          <p:cNvSpPr txBox="1"/>
          <p:nvPr/>
        </p:nvSpPr>
        <p:spPr>
          <a:xfrm>
            <a:off x="548640" y="1508760"/>
            <a:ext cx="5852160" cy="365760"/>
          </a:xfrm>
          <a:prstGeom prst="rect">
            <a:avLst/>
          </a:prstGeom>
          <a:noFill/>
        </p:spPr>
        <p:txBody>
          <a:bodyPr wrap="square" lIns="0" rIns="0" tIns="0" bIns="0" anchor="t">
            <a:spAutoFit/>
          </a:bodyPr>
          <a:lstStyle/>
          <a:p>
            <a:pPr algn="l"/>
            <a:r>
              <a:rPr sz="1500" b="1" i="0">
                <a:solidFill>
                  <a:srgbClr val="0D2B52"/>
                </a:solidFill>
                <a:latin typeface="Calibri"/>
              </a:rPr>
              <a:t>Hospital catchments: extra people beyond 1 hour in April</a:t>
            </a:r>
          </a:p>
        </p:txBody>
      </p:sp>
      <p:sp>
        <p:nvSpPr>
          <p:cNvPr id="6" name="TextBox 5"/>
          <p:cNvSpPr txBox="1"/>
          <p:nvPr/>
        </p:nvSpPr>
        <p:spPr>
          <a:xfrm>
            <a:off x="6949440" y="1508760"/>
            <a:ext cx="4663440" cy="365760"/>
          </a:xfrm>
          <a:prstGeom prst="rect">
            <a:avLst/>
          </a:prstGeom>
          <a:noFill/>
        </p:spPr>
        <p:txBody>
          <a:bodyPr wrap="square" lIns="0" rIns="0" tIns="0" bIns="0" anchor="t">
            <a:spAutoFit/>
          </a:bodyPr>
          <a:lstStyle/>
          <a:p>
            <a:pPr algn="l"/>
            <a:r>
              <a:rPr sz="1500" b="1" i="0">
                <a:solidFill>
                  <a:srgbClr val="0D2B52"/>
                </a:solidFill>
                <a:latin typeface="Calibri"/>
              </a:rPr>
              <a:t>Sub-counties with the largest April jumps</a:t>
            </a:r>
          </a:p>
        </p:txBody>
      </p:sp>
      <p:sp>
        <p:nvSpPr>
          <p:cNvPr id="7" name="Rounded Rectangle 6"/>
          <p:cNvSpPr/>
          <p:nvPr/>
        </p:nvSpPr>
        <p:spPr>
          <a:xfrm>
            <a:off x="6949440" y="2011680"/>
            <a:ext cx="4690872" cy="932688"/>
          </a:xfrm>
          <a:prstGeom prst="roundRect">
            <a:avLst>
              <a:gd name="adj" fmla="val 8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2139696"/>
            <a:ext cx="2286000" cy="365760"/>
          </a:xfrm>
          <a:prstGeom prst="rect">
            <a:avLst/>
          </a:prstGeom>
          <a:noFill/>
        </p:spPr>
        <p:txBody>
          <a:bodyPr wrap="square" lIns="0" rIns="0" tIns="0" bIns="0" anchor="t">
            <a:spAutoFit/>
          </a:bodyPr>
          <a:lstStyle/>
          <a:p>
            <a:pPr algn="l"/>
            <a:r>
              <a:rPr sz="1700" b="1" i="0">
                <a:solidFill>
                  <a:srgbClr val="0D2B52"/>
                </a:solidFill>
                <a:latin typeface="Cambria"/>
              </a:rPr>
              <a:t>Malongo</a:t>
            </a:r>
          </a:p>
        </p:txBody>
      </p:sp>
      <p:sp>
        <p:nvSpPr>
          <p:cNvPr id="9" name="TextBox 8"/>
          <p:cNvSpPr txBox="1"/>
          <p:nvPr/>
        </p:nvSpPr>
        <p:spPr>
          <a:xfrm>
            <a:off x="7178040" y="2514600"/>
            <a:ext cx="2468880" cy="320040"/>
          </a:xfrm>
          <a:prstGeom prst="rect">
            <a:avLst/>
          </a:prstGeom>
          <a:noFill/>
        </p:spPr>
        <p:txBody>
          <a:bodyPr wrap="square" lIns="0" rIns="0" tIns="0" bIns="0" anchor="t">
            <a:spAutoFit/>
          </a:bodyPr>
          <a:lstStyle/>
          <a:p>
            <a:pPr algn="l"/>
            <a:r>
              <a:rPr sz="1200" b="0" i="0">
                <a:solidFill>
                  <a:srgbClr val="5B6573"/>
                </a:solidFill>
                <a:latin typeface="Calibri"/>
              </a:rPr>
              <a:t>Mayuge</a:t>
            </a:r>
          </a:p>
        </p:txBody>
      </p:sp>
      <p:sp>
        <p:nvSpPr>
          <p:cNvPr id="10" name="TextBox 9"/>
          <p:cNvSpPr txBox="1"/>
          <p:nvPr/>
        </p:nvSpPr>
        <p:spPr>
          <a:xfrm>
            <a:off x="9418320" y="2139696"/>
            <a:ext cx="2011680" cy="685800"/>
          </a:xfrm>
          <a:prstGeom prst="rect">
            <a:avLst/>
          </a:prstGeom>
          <a:noFill/>
        </p:spPr>
        <p:txBody>
          <a:bodyPr wrap="square" lIns="0" rIns="0" tIns="0" bIns="0" anchor="ctr">
            <a:spAutoFit/>
          </a:bodyPr>
          <a:lstStyle/>
          <a:p>
            <a:pPr algn="r"/>
            <a:r>
              <a:rPr sz="2200" b="1" i="0">
                <a:solidFill>
                  <a:srgbClr val="2F6FB5"/>
                </a:solidFill>
                <a:latin typeface="Cambria"/>
              </a:rPr>
              <a:t>59%</a:t>
            </a:r>
            <a:r>
              <a:rPr sz="2200" b="1" i="0">
                <a:solidFill>
                  <a:srgbClr val="5B6573"/>
                </a:solidFill>
                <a:latin typeface="Cambria"/>
              </a:rPr>
              <a:t> → </a:t>
            </a:r>
            <a:r>
              <a:rPr sz="2200" b="1" i="0">
                <a:solidFill>
                  <a:srgbClr val="B5451B"/>
                </a:solidFill>
                <a:latin typeface="Cambria"/>
              </a:rPr>
              <a:t>93%</a:t>
            </a:r>
          </a:p>
        </p:txBody>
      </p:sp>
      <p:sp>
        <p:nvSpPr>
          <p:cNvPr id="11" name="Rounded Rectangle 10"/>
          <p:cNvSpPr/>
          <p:nvPr/>
        </p:nvSpPr>
        <p:spPr>
          <a:xfrm>
            <a:off x="6949440" y="3081528"/>
            <a:ext cx="4690872" cy="932688"/>
          </a:xfrm>
          <a:prstGeom prst="roundRect">
            <a:avLst>
              <a:gd name="adj" fmla="val 8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3209544"/>
            <a:ext cx="2286000" cy="365760"/>
          </a:xfrm>
          <a:prstGeom prst="rect">
            <a:avLst/>
          </a:prstGeom>
          <a:noFill/>
        </p:spPr>
        <p:txBody>
          <a:bodyPr wrap="square" lIns="0" rIns="0" tIns="0" bIns="0" anchor="t">
            <a:spAutoFit/>
          </a:bodyPr>
          <a:lstStyle/>
          <a:p>
            <a:pPr algn="l"/>
            <a:r>
              <a:rPr sz="1700" b="1" i="0">
                <a:solidFill>
                  <a:srgbClr val="0D2B52"/>
                </a:solidFill>
                <a:latin typeface="Cambria"/>
              </a:rPr>
              <a:t>Butoloogo</a:t>
            </a:r>
          </a:p>
        </p:txBody>
      </p:sp>
      <p:sp>
        <p:nvSpPr>
          <p:cNvPr id="13" name="TextBox 12"/>
          <p:cNvSpPr txBox="1"/>
          <p:nvPr/>
        </p:nvSpPr>
        <p:spPr>
          <a:xfrm>
            <a:off x="7178040" y="3584448"/>
            <a:ext cx="2468880" cy="320040"/>
          </a:xfrm>
          <a:prstGeom prst="rect">
            <a:avLst/>
          </a:prstGeom>
          <a:noFill/>
        </p:spPr>
        <p:txBody>
          <a:bodyPr wrap="square" lIns="0" rIns="0" tIns="0" bIns="0" anchor="t">
            <a:spAutoFit/>
          </a:bodyPr>
          <a:lstStyle/>
          <a:p>
            <a:pPr algn="l"/>
            <a:r>
              <a:rPr sz="1200" b="0" i="0">
                <a:solidFill>
                  <a:srgbClr val="5B6573"/>
                </a:solidFill>
                <a:latin typeface="Calibri"/>
              </a:rPr>
              <a:t>Mubende</a:t>
            </a:r>
          </a:p>
        </p:txBody>
      </p:sp>
      <p:sp>
        <p:nvSpPr>
          <p:cNvPr id="14" name="TextBox 13"/>
          <p:cNvSpPr txBox="1"/>
          <p:nvPr/>
        </p:nvSpPr>
        <p:spPr>
          <a:xfrm>
            <a:off x="9418320" y="3209544"/>
            <a:ext cx="2011680" cy="685800"/>
          </a:xfrm>
          <a:prstGeom prst="rect">
            <a:avLst/>
          </a:prstGeom>
          <a:noFill/>
        </p:spPr>
        <p:txBody>
          <a:bodyPr wrap="square" lIns="0" rIns="0" tIns="0" bIns="0" anchor="ctr">
            <a:spAutoFit/>
          </a:bodyPr>
          <a:lstStyle/>
          <a:p>
            <a:pPr algn="r"/>
            <a:r>
              <a:rPr sz="2200" b="1" i="0">
                <a:solidFill>
                  <a:srgbClr val="2F6FB5"/>
                </a:solidFill>
                <a:latin typeface="Cambria"/>
              </a:rPr>
              <a:t>26%</a:t>
            </a:r>
            <a:r>
              <a:rPr sz="2200" b="1" i="0">
                <a:solidFill>
                  <a:srgbClr val="5B6573"/>
                </a:solidFill>
                <a:latin typeface="Cambria"/>
              </a:rPr>
              <a:t> → </a:t>
            </a:r>
            <a:r>
              <a:rPr sz="2200" b="1" i="0">
                <a:solidFill>
                  <a:srgbClr val="B5451B"/>
                </a:solidFill>
                <a:latin typeface="Cambria"/>
              </a:rPr>
              <a:t>84%</a:t>
            </a:r>
          </a:p>
        </p:txBody>
      </p:sp>
      <p:sp>
        <p:nvSpPr>
          <p:cNvPr id="15" name="Rounded Rectangle 14"/>
          <p:cNvSpPr/>
          <p:nvPr/>
        </p:nvSpPr>
        <p:spPr>
          <a:xfrm>
            <a:off x="6949440" y="4151376"/>
            <a:ext cx="4690872" cy="932688"/>
          </a:xfrm>
          <a:prstGeom prst="roundRect">
            <a:avLst>
              <a:gd name="adj" fmla="val 8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78040" y="4279392"/>
            <a:ext cx="2286000" cy="365760"/>
          </a:xfrm>
          <a:prstGeom prst="rect">
            <a:avLst/>
          </a:prstGeom>
          <a:noFill/>
        </p:spPr>
        <p:txBody>
          <a:bodyPr wrap="square" lIns="0" rIns="0" tIns="0" bIns="0" anchor="t">
            <a:spAutoFit/>
          </a:bodyPr>
          <a:lstStyle/>
          <a:p>
            <a:pPr algn="l"/>
            <a:r>
              <a:rPr sz="1700" b="1" i="0">
                <a:solidFill>
                  <a:srgbClr val="0D2B52"/>
                </a:solidFill>
                <a:latin typeface="Cambria"/>
              </a:rPr>
              <a:t>Kagulu</a:t>
            </a:r>
          </a:p>
        </p:txBody>
      </p:sp>
      <p:sp>
        <p:nvSpPr>
          <p:cNvPr id="17" name="TextBox 16"/>
          <p:cNvSpPr txBox="1"/>
          <p:nvPr/>
        </p:nvSpPr>
        <p:spPr>
          <a:xfrm>
            <a:off x="7178040" y="4654296"/>
            <a:ext cx="2468880" cy="320040"/>
          </a:xfrm>
          <a:prstGeom prst="rect">
            <a:avLst/>
          </a:prstGeom>
          <a:noFill/>
        </p:spPr>
        <p:txBody>
          <a:bodyPr wrap="square" lIns="0" rIns="0" tIns="0" bIns="0" anchor="t">
            <a:spAutoFit/>
          </a:bodyPr>
          <a:lstStyle/>
          <a:p>
            <a:pPr algn="l"/>
            <a:r>
              <a:rPr sz="1200" b="0" i="0">
                <a:solidFill>
                  <a:srgbClr val="5B6573"/>
                </a:solidFill>
                <a:latin typeface="Calibri"/>
              </a:rPr>
              <a:t>Buyende</a:t>
            </a:r>
          </a:p>
        </p:txBody>
      </p:sp>
      <p:sp>
        <p:nvSpPr>
          <p:cNvPr id="18" name="TextBox 17"/>
          <p:cNvSpPr txBox="1"/>
          <p:nvPr/>
        </p:nvSpPr>
        <p:spPr>
          <a:xfrm>
            <a:off x="9418320" y="4279392"/>
            <a:ext cx="2011680" cy="685800"/>
          </a:xfrm>
          <a:prstGeom prst="rect">
            <a:avLst/>
          </a:prstGeom>
          <a:noFill/>
        </p:spPr>
        <p:txBody>
          <a:bodyPr wrap="square" lIns="0" rIns="0" tIns="0" bIns="0" anchor="ctr">
            <a:spAutoFit/>
          </a:bodyPr>
          <a:lstStyle/>
          <a:p>
            <a:pPr algn="r"/>
            <a:r>
              <a:rPr sz="2200" b="1" i="0">
                <a:solidFill>
                  <a:srgbClr val="2F6FB5"/>
                </a:solidFill>
                <a:latin typeface="Cambria"/>
              </a:rPr>
              <a:t>33%</a:t>
            </a:r>
            <a:r>
              <a:rPr sz="2200" b="1" i="0">
                <a:solidFill>
                  <a:srgbClr val="5B6573"/>
                </a:solidFill>
                <a:latin typeface="Cambria"/>
              </a:rPr>
              <a:t> → </a:t>
            </a:r>
            <a:r>
              <a:rPr sz="2200" b="1" i="0">
                <a:solidFill>
                  <a:srgbClr val="B5451B"/>
                </a:solidFill>
                <a:latin typeface="Cambria"/>
              </a:rPr>
              <a:t>66%</a:t>
            </a:r>
          </a:p>
        </p:txBody>
      </p:sp>
      <p:sp>
        <p:nvSpPr>
          <p:cNvPr id="19" name="Rounded Rectangle 18"/>
          <p:cNvSpPr/>
          <p:nvPr/>
        </p:nvSpPr>
        <p:spPr>
          <a:xfrm>
            <a:off x="6949440" y="5221224"/>
            <a:ext cx="4690872" cy="932688"/>
          </a:xfrm>
          <a:prstGeom prst="roundRect">
            <a:avLst>
              <a:gd name="adj" fmla="val 8000"/>
            </a:avLst>
          </a:prstGeom>
          <a:solidFill>
            <a:srgbClr val="FFFFFF"/>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78040" y="5349240"/>
            <a:ext cx="2286000" cy="365760"/>
          </a:xfrm>
          <a:prstGeom prst="rect">
            <a:avLst/>
          </a:prstGeom>
          <a:noFill/>
        </p:spPr>
        <p:txBody>
          <a:bodyPr wrap="square" lIns="0" rIns="0" tIns="0" bIns="0" anchor="t">
            <a:spAutoFit/>
          </a:bodyPr>
          <a:lstStyle/>
          <a:p>
            <a:pPr algn="l"/>
            <a:r>
              <a:rPr sz="1700" b="1" i="0">
                <a:solidFill>
                  <a:srgbClr val="0D2B52"/>
                </a:solidFill>
                <a:latin typeface="Cambria"/>
              </a:rPr>
              <a:t>Kyangwali</a:t>
            </a:r>
          </a:p>
        </p:txBody>
      </p:sp>
      <p:sp>
        <p:nvSpPr>
          <p:cNvPr id="21" name="TextBox 20"/>
          <p:cNvSpPr txBox="1"/>
          <p:nvPr/>
        </p:nvSpPr>
        <p:spPr>
          <a:xfrm>
            <a:off x="7178040" y="5724144"/>
            <a:ext cx="2468880" cy="320040"/>
          </a:xfrm>
          <a:prstGeom prst="rect">
            <a:avLst/>
          </a:prstGeom>
          <a:noFill/>
        </p:spPr>
        <p:txBody>
          <a:bodyPr wrap="square" lIns="0" rIns="0" tIns="0" bIns="0" anchor="t">
            <a:spAutoFit/>
          </a:bodyPr>
          <a:lstStyle/>
          <a:p>
            <a:pPr algn="l"/>
            <a:r>
              <a:rPr sz="1200" b="0" i="0">
                <a:solidFill>
                  <a:srgbClr val="5B6573"/>
                </a:solidFill>
                <a:latin typeface="Calibri"/>
              </a:rPr>
              <a:t>Kikuube · refugee settlement</a:t>
            </a:r>
          </a:p>
        </p:txBody>
      </p:sp>
      <p:sp>
        <p:nvSpPr>
          <p:cNvPr id="22" name="TextBox 21"/>
          <p:cNvSpPr txBox="1"/>
          <p:nvPr/>
        </p:nvSpPr>
        <p:spPr>
          <a:xfrm>
            <a:off x="9418320" y="5349240"/>
            <a:ext cx="2011680" cy="685800"/>
          </a:xfrm>
          <a:prstGeom prst="rect">
            <a:avLst/>
          </a:prstGeom>
          <a:noFill/>
        </p:spPr>
        <p:txBody>
          <a:bodyPr wrap="square" lIns="0" rIns="0" tIns="0" bIns="0" anchor="ctr">
            <a:spAutoFit/>
          </a:bodyPr>
          <a:lstStyle/>
          <a:p>
            <a:pPr algn="r"/>
            <a:r>
              <a:rPr sz="2200" b="1" i="0">
                <a:solidFill>
                  <a:srgbClr val="2F6FB5"/>
                </a:solidFill>
                <a:latin typeface="Cambria"/>
              </a:rPr>
              <a:t>54%</a:t>
            </a:r>
            <a:r>
              <a:rPr sz="2200" b="1" i="0">
                <a:solidFill>
                  <a:srgbClr val="5B6573"/>
                </a:solidFill>
                <a:latin typeface="Cambria"/>
              </a:rPr>
              <a:t> → </a:t>
            </a:r>
            <a:r>
              <a:rPr sz="2200" b="1" i="0">
                <a:solidFill>
                  <a:srgbClr val="B5451B"/>
                </a:solidFill>
                <a:latin typeface="Cambria"/>
              </a:rPr>
              <a:t>77%</a:t>
            </a:r>
          </a:p>
        </p:txBody>
      </p:sp>
      <p:sp>
        <p:nvSpPr>
          <p:cNvPr id="23" name="TextBox 22"/>
          <p:cNvSpPr txBox="1"/>
          <p:nvPr/>
        </p:nvSpPr>
        <p:spPr>
          <a:xfrm>
            <a:off x="548640" y="6400800"/>
            <a:ext cx="11064240" cy="274320"/>
          </a:xfrm>
          <a:prstGeom prst="rect">
            <a:avLst/>
          </a:prstGeom>
          <a:noFill/>
        </p:spPr>
        <p:txBody>
          <a:bodyPr wrap="square" lIns="0" rIns="0" tIns="0" bIns="0" anchor="t">
            <a:spAutoFit/>
          </a:bodyPr>
          <a:lstStyle/>
          <a:p>
            <a:pPr algn="l"/>
            <a:r>
              <a:rPr sz="1000" b="0" i="1">
                <a:solidFill>
                  <a:srgbClr val="5B6573"/>
                </a:solidFill>
                <a:latin typeface="Calibri"/>
              </a:rPr>
              <a:t>Share of people more than 1 hour from a hospital by road, dry weather → April.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WHAT COULD BE DONE</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A handful of river crossings matter a great deal</a:t>
            </a:r>
          </a:p>
        </p:txBody>
      </p:sp>
      <p:pic>
        <p:nvPicPr>
          <p:cNvPr id="4" name="Picture 3" descr="m08_crossings.png"/>
          <p:cNvPicPr>
            <a:picLocks noChangeAspect="1"/>
          </p:cNvPicPr>
          <p:nvPr/>
        </p:nvPicPr>
        <p:blipFill>
          <a:blip r:embed="rId2"/>
          <a:srcRect t="8000"/>
          <a:stretch>
            <a:fillRect/>
          </a:stretch>
        </p:blipFill>
        <p:spPr>
          <a:xfrm>
            <a:off x="627053" y="1371600"/>
            <a:ext cx="5421012" cy="4983480"/>
          </a:xfrm>
          <a:prstGeom prst="rect">
            <a:avLst/>
          </a:prstGeom>
        </p:spPr>
      </p:pic>
      <p:sp>
        <p:nvSpPr>
          <p:cNvPr id="5" name="TextBox 4"/>
          <p:cNvSpPr txBox="1"/>
          <p:nvPr/>
        </p:nvSpPr>
        <p:spPr>
          <a:xfrm>
            <a:off x="6583680" y="1554480"/>
            <a:ext cx="5029200" cy="822960"/>
          </a:xfrm>
          <a:prstGeom prst="rect">
            <a:avLst/>
          </a:prstGeom>
          <a:noFill/>
        </p:spPr>
        <p:txBody>
          <a:bodyPr wrap="square" lIns="0" rIns="0" tIns="0" bIns="0" anchor="t">
            <a:spAutoFit/>
          </a:bodyPr>
          <a:lstStyle/>
          <a:p>
            <a:pPr algn="l"/>
            <a:r>
              <a:rPr sz="1500" b="0" i="0">
                <a:solidFill>
                  <a:srgbClr val="1F2A37"/>
                </a:solidFill>
                <a:latin typeface="Calibri"/>
              </a:rPr>
              <a:t>72 distinct fords were ranked by the wet-day travel time a bridge would save on trips to emergency obstetric care.</a:t>
            </a:r>
          </a:p>
        </p:txBody>
      </p:sp>
      <p:sp>
        <p:nvSpPr>
          <p:cNvPr id="6" name="Oval 5"/>
          <p:cNvSpPr/>
          <p:nvPr/>
        </p:nvSpPr>
        <p:spPr>
          <a:xfrm>
            <a:off x="6583680" y="2606039"/>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1</a:t>
            </a:r>
          </a:p>
        </p:txBody>
      </p:sp>
      <p:sp>
        <p:nvSpPr>
          <p:cNvPr id="7" name="TextBox 6"/>
          <p:cNvSpPr txBox="1"/>
          <p:nvPr/>
        </p:nvSpPr>
        <p:spPr>
          <a:xfrm>
            <a:off x="7269480" y="2560320"/>
            <a:ext cx="4389120" cy="365760"/>
          </a:xfrm>
          <a:prstGeom prst="rect">
            <a:avLst/>
          </a:prstGeom>
          <a:noFill/>
        </p:spPr>
        <p:txBody>
          <a:bodyPr wrap="square" lIns="0" rIns="0" tIns="0" bIns="0" anchor="t">
            <a:spAutoFit/>
          </a:bodyPr>
          <a:lstStyle/>
          <a:p>
            <a:pPr algn="l"/>
            <a:r>
              <a:rPr sz="1900" b="1" i="0">
                <a:solidFill>
                  <a:srgbClr val="0D2B52"/>
                </a:solidFill>
                <a:latin typeface="Cambria"/>
              </a:rPr>
              <a:t>Riwo, Bukwo</a:t>
            </a:r>
          </a:p>
        </p:txBody>
      </p:sp>
      <p:sp>
        <p:nvSpPr>
          <p:cNvPr id="8" name="TextBox 7"/>
          <p:cNvSpPr txBox="1"/>
          <p:nvPr/>
        </p:nvSpPr>
        <p:spPr>
          <a:xfrm>
            <a:off x="7269480" y="2944368"/>
            <a:ext cx="4389120" cy="640080"/>
          </a:xfrm>
          <a:prstGeom prst="rect">
            <a:avLst/>
          </a:prstGeom>
          <a:noFill/>
        </p:spPr>
        <p:txBody>
          <a:bodyPr wrap="square" lIns="0" rIns="0" tIns="0" bIns="0" anchor="t">
            <a:spAutoFit/>
          </a:bodyPr>
          <a:lstStyle/>
          <a:p>
            <a:pPr algn="l"/>
            <a:r>
              <a:rPr sz="1400" b="0" i="0">
                <a:solidFill>
                  <a:srgbClr val="1F2A37"/>
                </a:solidFill>
                <a:latin typeface="Calibri"/>
              </a:rPr>
              <a:t>~7,000 people brought within 1 h on wet days, incl. 1,500 women 15–49</a:t>
            </a:r>
          </a:p>
        </p:txBody>
      </p:sp>
      <p:sp>
        <p:nvSpPr>
          <p:cNvPr id="9" name="Oval 8"/>
          <p:cNvSpPr/>
          <p:nvPr/>
        </p:nvSpPr>
        <p:spPr>
          <a:xfrm>
            <a:off x="6583680" y="370332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2</a:t>
            </a:r>
          </a:p>
        </p:txBody>
      </p:sp>
      <p:sp>
        <p:nvSpPr>
          <p:cNvPr id="10" name="TextBox 9"/>
          <p:cNvSpPr txBox="1"/>
          <p:nvPr/>
        </p:nvSpPr>
        <p:spPr>
          <a:xfrm>
            <a:off x="7269480" y="3657600"/>
            <a:ext cx="4389120" cy="365760"/>
          </a:xfrm>
          <a:prstGeom prst="rect">
            <a:avLst/>
          </a:prstGeom>
          <a:noFill/>
        </p:spPr>
        <p:txBody>
          <a:bodyPr wrap="square" lIns="0" rIns="0" tIns="0" bIns="0" anchor="t">
            <a:spAutoFit/>
          </a:bodyPr>
          <a:lstStyle/>
          <a:p>
            <a:pPr algn="l"/>
            <a:r>
              <a:rPr sz="1900" b="1" i="0">
                <a:solidFill>
                  <a:srgbClr val="0D2B52"/>
                </a:solidFill>
                <a:latin typeface="Cambria"/>
              </a:rPr>
              <a:t>Karita, Amudat</a:t>
            </a:r>
          </a:p>
        </p:txBody>
      </p:sp>
      <p:sp>
        <p:nvSpPr>
          <p:cNvPr id="11" name="TextBox 10"/>
          <p:cNvSpPr txBox="1"/>
          <p:nvPr/>
        </p:nvSpPr>
        <p:spPr>
          <a:xfrm>
            <a:off x="7269480" y="4041648"/>
            <a:ext cx="4389120" cy="640080"/>
          </a:xfrm>
          <a:prstGeom prst="rect">
            <a:avLst/>
          </a:prstGeom>
          <a:noFill/>
        </p:spPr>
        <p:txBody>
          <a:bodyPr wrap="square" lIns="0" rIns="0" tIns="0" bIns="0" anchor="t">
            <a:spAutoFit/>
          </a:bodyPr>
          <a:lstStyle/>
          <a:p>
            <a:pPr algn="l"/>
            <a:r>
              <a:rPr sz="1400" b="0" i="0">
                <a:solidFill>
                  <a:srgbClr val="1F2A37"/>
                </a:solidFill>
                <a:latin typeface="Calibri"/>
              </a:rPr>
              <a:t>~1,500 people within 1 h; 630 women</a:t>
            </a:r>
          </a:p>
        </p:txBody>
      </p:sp>
      <p:sp>
        <p:nvSpPr>
          <p:cNvPr id="12" name="Oval 11"/>
          <p:cNvSpPr/>
          <p:nvPr/>
        </p:nvSpPr>
        <p:spPr>
          <a:xfrm>
            <a:off x="6583680" y="480060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3</a:t>
            </a:r>
          </a:p>
        </p:txBody>
      </p:sp>
      <p:sp>
        <p:nvSpPr>
          <p:cNvPr id="13" name="TextBox 12"/>
          <p:cNvSpPr txBox="1"/>
          <p:nvPr/>
        </p:nvSpPr>
        <p:spPr>
          <a:xfrm>
            <a:off x="7269480" y="4754880"/>
            <a:ext cx="4389120" cy="365760"/>
          </a:xfrm>
          <a:prstGeom prst="rect">
            <a:avLst/>
          </a:prstGeom>
          <a:noFill/>
        </p:spPr>
        <p:txBody>
          <a:bodyPr wrap="square" lIns="0" rIns="0" tIns="0" bIns="0" anchor="t">
            <a:spAutoFit/>
          </a:bodyPr>
          <a:lstStyle/>
          <a:p>
            <a:pPr algn="l"/>
            <a:r>
              <a:rPr sz="1900" b="1" i="0">
                <a:solidFill>
                  <a:srgbClr val="0D2B52"/>
                </a:solidFill>
                <a:latin typeface="Cambria"/>
              </a:rPr>
              <a:t>Kilembe, Kasese</a:t>
            </a:r>
          </a:p>
        </p:txBody>
      </p:sp>
      <p:sp>
        <p:nvSpPr>
          <p:cNvPr id="14" name="TextBox 13"/>
          <p:cNvSpPr txBox="1"/>
          <p:nvPr/>
        </p:nvSpPr>
        <p:spPr>
          <a:xfrm>
            <a:off x="7269480" y="5138928"/>
            <a:ext cx="4389120" cy="640080"/>
          </a:xfrm>
          <a:prstGeom prst="rect">
            <a:avLst/>
          </a:prstGeom>
          <a:noFill/>
        </p:spPr>
        <p:txBody>
          <a:bodyPr wrap="square" lIns="0" rIns="0" tIns="0" bIns="0" anchor="t">
            <a:spAutoFit/>
          </a:bodyPr>
          <a:lstStyle/>
          <a:p>
            <a:pPr algn="l"/>
            <a:r>
              <a:rPr sz="1400" b="0" i="0">
                <a:solidFill>
                  <a:srgbClr val="1F2A37"/>
                </a:solidFill>
                <a:latin typeface="Calibri"/>
              </a:rPr>
              <a:t>Footpath ford: ~2,700 person-hours saved per wet day; next is Panyangara, Kotido</a:t>
            </a:r>
          </a:p>
        </p:txBody>
      </p:sp>
      <p:sp>
        <p:nvSpPr>
          <p:cNvPr id="15" name="TextBox 14"/>
          <p:cNvSpPr txBox="1"/>
          <p:nvPr/>
        </p:nvSpPr>
        <p:spPr>
          <a:xfrm>
            <a:off x="6583680" y="5852160"/>
            <a:ext cx="5029200" cy="457200"/>
          </a:xfrm>
          <a:prstGeom prst="rect">
            <a:avLst/>
          </a:prstGeom>
          <a:noFill/>
        </p:spPr>
        <p:txBody>
          <a:bodyPr wrap="square" lIns="0" rIns="0" tIns="0" bIns="0" anchor="t">
            <a:spAutoFit/>
          </a:bodyPr>
          <a:lstStyle/>
          <a:p>
            <a:pPr algn="l"/>
            <a:r>
              <a:rPr sz="1300" b="0" i="1">
                <a:solidFill>
                  <a:srgbClr val="5B6573"/>
                </a:solidFill>
                <a:latin typeface="Calibri"/>
              </a:rPr>
              <a:t>A starting list for district engineers, to be checked on the ground.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RESULTS · ROBUSTNESS</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The seasonal rise survives every robustness test</a:t>
            </a:r>
          </a:p>
        </p:txBody>
      </p:sp>
      <p:sp>
        <p:nvSpPr>
          <p:cNvPr id="4" name="TextBox 3"/>
          <p:cNvSpPr txBox="1"/>
          <p:nvPr/>
        </p:nvSpPr>
        <p:spPr>
          <a:xfrm>
            <a:off x="548640" y="1554480"/>
            <a:ext cx="5486400" cy="365760"/>
          </a:xfrm>
          <a:prstGeom prst="rect">
            <a:avLst/>
          </a:prstGeom>
          <a:noFill/>
        </p:spPr>
        <p:txBody>
          <a:bodyPr wrap="square" lIns="0" rIns="0" tIns="0" bIns="0" anchor="t">
            <a:spAutoFit/>
          </a:bodyPr>
          <a:lstStyle/>
          <a:p>
            <a:pPr algn="l"/>
            <a:r>
              <a:rPr sz="1500" b="1" i="0">
                <a:solidFill>
                  <a:srgbClr val="0D2B52"/>
                </a:solidFill>
                <a:latin typeface="Calibri"/>
              </a:rPr>
              <a:t>Sensitivity: April rise in points, by wet-day definition</a:t>
            </a:r>
          </a:p>
        </p:txBody>
      </p:sp>
      <p:graphicFrame>
        <p:nvGraphicFramePr>
          <p:cNvPr id="5" name="Chart 4"/>
          <p:cNvGraphicFramePr>
            <a:graphicFrameLocks noGrp="1"/>
          </p:cNvGraphicFramePr>
          <p:nvPr/>
        </p:nvGraphicFramePr>
        <p:xfrm>
          <a:off x="457200" y="1920240"/>
          <a:ext cx="5486400" cy="2926080"/>
        </p:xfrm>
        <a:graphic>
          <a:graphicData uri="http://schemas.openxmlformats.org/drawingml/2006/chart">
            <c:chart xmlns:c="http://schemas.openxmlformats.org/drawingml/2006/chart" r:id="rId2"/>
          </a:graphicData>
        </a:graphic>
      </p:graphicFrame>
      <p:sp>
        <p:nvSpPr>
          <p:cNvPr id="6" name="TextBox 5"/>
          <p:cNvSpPr txBox="1"/>
          <p:nvPr/>
        </p:nvSpPr>
        <p:spPr>
          <a:xfrm>
            <a:off x="548640" y="5029200"/>
            <a:ext cx="5486400" cy="1188720"/>
          </a:xfrm>
          <a:prstGeom prst="rect">
            <a:avLst/>
          </a:prstGeom>
          <a:noFill/>
        </p:spPr>
        <p:txBody>
          <a:bodyPr wrap="square" lIns="0" rIns="0" tIns="0" bIns="0" anchor="t">
            <a:spAutoFit/>
          </a:bodyPr>
          <a:lstStyle/>
          <a:p>
            <a:pPr algn="l">
              <a:spcAft>
                <a:spcPts val="600"/>
              </a:spcAft>
            </a:pPr>
            <a:r>
              <a:rPr sz="1400" b="1" i="0">
                <a:solidFill>
                  <a:srgbClr val="0D2B52"/>
                </a:solidFill>
                <a:latin typeface="Calibri"/>
              </a:rPr>
              <a:t>16 variants </a:t>
            </a:r>
            <a:r>
              <a:rPr sz="1400" b="0" i="0">
                <a:solidFill>
                  <a:srgbClr val="1F2A37"/>
                </a:solidFill>
                <a:latin typeface="Calibri"/>
              </a:rPr>
              <a:t>of speeds, fords, surfaces, walking speed and facility source: the April rise is positive in all.</a:t>
            </a:r>
          </a:p>
          <a:p>
            <a:pPr algn="l">
              <a:spcAft>
                <a:spcPts val="600"/>
              </a:spcAft>
            </a:pPr>
            <a:r>
              <a:rPr sz="1400" b="1" i="0">
                <a:solidFill>
                  <a:srgbClr val="0D2B52"/>
                </a:solidFill>
                <a:latin typeface="Calibri"/>
              </a:rPr>
              <a:t>District rankings </a:t>
            </a:r>
            <a:r>
              <a:rPr sz="1400" b="0" i="0">
                <a:solidFill>
                  <a:srgbClr val="1F2A37"/>
                </a:solidFill>
                <a:latin typeface="Calibri"/>
              </a:rPr>
              <a:t>agree with the baseline (Spearman 0.88–1.00).</a:t>
            </a:r>
          </a:p>
        </p:txBody>
      </p:sp>
      <p:sp>
        <p:nvSpPr>
          <p:cNvPr id="7" name="Rounded Rectangle 6"/>
          <p:cNvSpPr/>
          <p:nvPr/>
        </p:nvSpPr>
        <p:spPr>
          <a:xfrm>
            <a:off x="6400800" y="1554480"/>
            <a:ext cx="5239512" cy="4709160"/>
          </a:xfrm>
          <a:prstGeom prst="roundRect">
            <a:avLst>
              <a:gd name="adj" fmla="val 5000"/>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60" y="1828800"/>
            <a:ext cx="4572000" cy="365760"/>
          </a:xfrm>
          <a:prstGeom prst="rect">
            <a:avLst/>
          </a:prstGeom>
          <a:noFill/>
        </p:spPr>
        <p:txBody>
          <a:bodyPr wrap="square" lIns="0" rIns="0" tIns="0" bIns="0" anchor="t">
            <a:spAutoFit/>
          </a:bodyPr>
          <a:lstStyle/>
          <a:p>
            <a:pPr algn="l"/>
            <a:r>
              <a:rPr sz="1200" b="1" i="0">
                <a:solidFill>
                  <a:srgbClr val="9DBFE6"/>
                </a:solidFill>
                <a:latin typeface="Calibri"/>
              </a:rPr>
              <a:t>VALIDATION AGAINST DHS 2016</a:t>
            </a:r>
          </a:p>
        </p:txBody>
      </p:sp>
      <p:sp>
        <p:nvSpPr>
          <p:cNvPr id="9" name="TextBox 8"/>
          <p:cNvSpPr txBox="1"/>
          <p:nvPr/>
        </p:nvSpPr>
        <p:spPr>
          <a:xfrm>
            <a:off x="6766560" y="2240280"/>
            <a:ext cx="2286000" cy="822960"/>
          </a:xfrm>
          <a:prstGeom prst="rect">
            <a:avLst/>
          </a:prstGeom>
          <a:noFill/>
        </p:spPr>
        <p:txBody>
          <a:bodyPr wrap="square" lIns="0" rIns="0" tIns="0" bIns="0" anchor="t">
            <a:spAutoFit/>
          </a:bodyPr>
          <a:lstStyle/>
          <a:p>
            <a:pPr algn="l"/>
            <a:r>
              <a:rPr sz="4400" b="1" i="0">
                <a:solidFill>
                  <a:srgbClr val="FFFFFF"/>
                </a:solidFill>
                <a:latin typeface="Cambria"/>
              </a:rPr>
              <a:t>ρ ≈ 0.8</a:t>
            </a:r>
          </a:p>
        </p:txBody>
      </p:sp>
      <p:sp>
        <p:nvSpPr>
          <p:cNvPr id="10" name="TextBox 9"/>
          <p:cNvSpPr txBox="1"/>
          <p:nvPr/>
        </p:nvSpPr>
        <p:spPr>
          <a:xfrm>
            <a:off x="6766560" y="3108960"/>
            <a:ext cx="4572000" cy="822960"/>
          </a:xfrm>
          <a:prstGeom prst="rect">
            <a:avLst/>
          </a:prstGeom>
          <a:noFill/>
        </p:spPr>
        <p:txBody>
          <a:bodyPr wrap="square" lIns="0" rIns="0" tIns="0" bIns="0" anchor="t">
            <a:spAutoFit/>
          </a:bodyPr>
          <a:lstStyle/>
          <a:p>
            <a:pPr algn="l"/>
            <a:r>
              <a:rPr sz="1400" b="0" i="0">
                <a:solidFill>
                  <a:srgbClr val="CADCF2"/>
                </a:solidFill>
                <a:latin typeface="Calibri"/>
              </a:rPr>
              <a:t>Modelled access vs share of women citing distance as a barrier to care, across 15 regions (ρ = 0.81–0.83, p &lt; 0.001).</a:t>
            </a:r>
          </a:p>
        </p:txBody>
      </p:sp>
      <p:sp>
        <p:nvSpPr>
          <p:cNvPr id="11" name="TextBox 10"/>
          <p:cNvSpPr txBox="1"/>
          <p:nvPr/>
        </p:nvSpPr>
        <p:spPr>
          <a:xfrm>
            <a:off x="6766560" y="3977639"/>
            <a:ext cx="4572000" cy="731520"/>
          </a:xfrm>
          <a:prstGeom prst="rect">
            <a:avLst/>
          </a:prstGeom>
          <a:noFill/>
        </p:spPr>
        <p:txBody>
          <a:bodyPr wrap="square" lIns="0" rIns="0" tIns="0" bIns="0" anchor="t">
            <a:spAutoFit/>
          </a:bodyPr>
          <a:lstStyle/>
          <a:p>
            <a:pPr algn="l"/>
            <a:r>
              <a:rPr sz="1400" b="1" i="0">
                <a:solidFill>
                  <a:srgbClr val="FFFFFF"/>
                </a:solidFill>
                <a:latin typeface="Calibri"/>
              </a:rPr>
              <a:t>Still ρ = 0.52–0.59 </a:t>
            </a:r>
            <a:r>
              <a:rPr sz="1400" b="0" i="0">
                <a:solidFill>
                  <a:srgbClr val="CADCF2"/>
                </a:solidFill>
                <a:latin typeface="Calibri"/>
              </a:rPr>
              <a:t>after controlling for wealth (p = 0.02–0.05).</a:t>
            </a:r>
          </a:p>
        </p:txBody>
      </p:sp>
      <p:sp>
        <p:nvSpPr>
          <p:cNvPr id="12" name="TextBox 11"/>
          <p:cNvSpPr txBox="1"/>
          <p:nvPr/>
        </p:nvSpPr>
        <p:spPr>
          <a:xfrm>
            <a:off x="6766560" y="4754880"/>
            <a:ext cx="4572000" cy="1371600"/>
          </a:xfrm>
          <a:prstGeom prst="rect">
            <a:avLst/>
          </a:prstGeom>
          <a:noFill/>
        </p:spPr>
        <p:txBody>
          <a:bodyPr wrap="square" lIns="0" rIns="0" tIns="0" bIns="0" anchor="t">
            <a:spAutoFit/>
          </a:bodyPr>
          <a:lstStyle/>
          <a:p>
            <a:pPr algn="l"/>
            <a:r>
              <a:rPr sz="1400" b="1" i="0">
                <a:solidFill>
                  <a:srgbClr val="FFFFFF"/>
                </a:solidFill>
                <a:latin typeface="Calibri"/>
              </a:rPr>
              <a:t>Not predictive </a:t>
            </a:r>
            <a:r>
              <a:rPr sz="1400" b="0" i="0">
                <a:solidFill>
                  <a:srgbClr val="CADCF2"/>
                </a:solidFill>
                <a:latin typeface="Calibri"/>
              </a:rPr>
              <a:t>of facility births or vaccination at regional level: Karamoja has poor access but ~80% facility births.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DISCUSSION</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Discussion: what the findings mean</a:t>
            </a:r>
          </a:p>
        </p:txBody>
      </p:sp>
      <p:sp>
        <p:nvSpPr>
          <p:cNvPr id="4" name="Rounded Rectangle 3"/>
          <p:cNvSpPr/>
          <p:nvPr/>
        </p:nvSpPr>
        <p:spPr>
          <a:xfrm>
            <a:off x="548640" y="1600200"/>
            <a:ext cx="5440680" cy="219456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92024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1</a:t>
            </a:r>
          </a:p>
        </p:txBody>
      </p:sp>
      <p:sp>
        <p:nvSpPr>
          <p:cNvPr id="6" name="TextBox 5"/>
          <p:cNvSpPr txBox="1"/>
          <p:nvPr/>
        </p:nvSpPr>
        <p:spPr>
          <a:xfrm>
            <a:off x="1600200" y="1920240"/>
            <a:ext cx="4114800" cy="502920"/>
          </a:xfrm>
          <a:prstGeom prst="rect">
            <a:avLst/>
          </a:prstGeom>
          <a:noFill/>
        </p:spPr>
        <p:txBody>
          <a:bodyPr wrap="square" lIns="0" rIns="0" tIns="0" bIns="0" anchor="ctr">
            <a:spAutoFit/>
          </a:bodyPr>
          <a:lstStyle/>
          <a:p>
            <a:pPr algn="l"/>
            <a:r>
              <a:rPr sz="1900" b="1" i="0">
                <a:solidFill>
                  <a:srgbClr val="0D2B52"/>
                </a:solidFill>
                <a:latin typeface="Cambria"/>
              </a:rPr>
              <a:t>Access has a calendar</a:t>
            </a:r>
          </a:p>
        </p:txBody>
      </p:sp>
      <p:sp>
        <p:nvSpPr>
          <p:cNvPr id="7" name="TextBox 6"/>
          <p:cNvSpPr txBox="1"/>
          <p:nvPr/>
        </p:nvSpPr>
        <p:spPr>
          <a:xfrm>
            <a:off x="1600200" y="2514600"/>
            <a:ext cx="4114800" cy="1188720"/>
          </a:xfrm>
          <a:prstGeom prst="rect">
            <a:avLst/>
          </a:prstGeom>
          <a:noFill/>
        </p:spPr>
        <p:txBody>
          <a:bodyPr wrap="square" lIns="0" rIns="0" tIns="0" bIns="0" anchor="t">
            <a:spAutoFit/>
          </a:bodyPr>
          <a:lstStyle/>
          <a:p>
            <a:pPr algn="l"/>
            <a:r>
              <a:rPr sz="1400" b="0" i="0">
                <a:solidFill>
                  <a:srgbClr val="1F2A37"/>
                </a:solidFill>
                <a:latin typeface="Calibri"/>
              </a:rPr>
              <a:t>Dry-weather maps understate exclusion. The worst month, not the average day, should anchor access targets, and it is predictable years ahead.</a:t>
            </a:r>
          </a:p>
        </p:txBody>
      </p:sp>
      <p:sp>
        <p:nvSpPr>
          <p:cNvPr id="8" name="Rounded Rectangle 7"/>
          <p:cNvSpPr/>
          <p:nvPr/>
        </p:nvSpPr>
        <p:spPr>
          <a:xfrm>
            <a:off x="6199632" y="1600200"/>
            <a:ext cx="5440680" cy="219456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19672" y="192024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2</a:t>
            </a:r>
          </a:p>
        </p:txBody>
      </p:sp>
      <p:sp>
        <p:nvSpPr>
          <p:cNvPr id="10" name="TextBox 9"/>
          <p:cNvSpPr txBox="1"/>
          <p:nvPr/>
        </p:nvSpPr>
        <p:spPr>
          <a:xfrm>
            <a:off x="7251192" y="1920240"/>
            <a:ext cx="4114800" cy="502920"/>
          </a:xfrm>
          <a:prstGeom prst="rect">
            <a:avLst/>
          </a:prstGeom>
          <a:noFill/>
        </p:spPr>
        <p:txBody>
          <a:bodyPr wrap="square" lIns="0" rIns="0" tIns="0" bIns="0" anchor="ctr">
            <a:spAutoFit/>
          </a:bodyPr>
          <a:lstStyle/>
          <a:p>
            <a:pPr algn="l"/>
            <a:r>
              <a:rPr sz="1900" b="1" i="0">
                <a:solidFill>
                  <a:srgbClr val="0D2B52"/>
                </a:solidFill>
                <a:latin typeface="Cambria"/>
              </a:rPr>
              <a:t>The seasonal gap is an equity gap</a:t>
            </a:r>
          </a:p>
        </p:txBody>
      </p:sp>
      <p:sp>
        <p:nvSpPr>
          <p:cNvPr id="11" name="TextBox 10"/>
          <p:cNvSpPr txBox="1"/>
          <p:nvPr/>
        </p:nvSpPr>
        <p:spPr>
          <a:xfrm>
            <a:off x="7251192" y="2514600"/>
            <a:ext cx="4114800" cy="1188720"/>
          </a:xfrm>
          <a:prstGeom prst="rect">
            <a:avLst/>
          </a:prstGeom>
          <a:noFill/>
        </p:spPr>
        <p:txBody>
          <a:bodyPr wrap="square" lIns="0" rIns="0" tIns="0" bIns="0" anchor="t">
            <a:spAutoFit/>
          </a:bodyPr>
          <a:lstStyle/>
          <a:p>
            <a:pPr algn="l"/>
            <a:r>
              <a:rPr sz="1400" b="0" i="0">
                <a:solidFill>
                  <a:srgbClr val="1F2A37"/>
                </a:solidFill>
                <a:latin typeface="Calibri"/>
              </a:rPr>
              <a:t>The poorest fifth, refugee-hosting areas and people on foot lose the most, on the same timetable every year.</a:t>
            </a:r>
          </a:p>
        </p:txBody>
      </p:sp>
      <p:sp>
        <p:nvSpPr>
          <p:cNvPr id="12" name="Rounded Rectangle 11"/>
          <p:cNvSpPr/>
          <p:nvPr/>
        </p:nvSpPr>
        <p:spPr>
          <a:xfrm>
            <a:off x="548640" y="4023360"/>
            <a:ext cx="5440680" cy="219456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434340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3</a:t>
            </a:r>
          </a:p>
        </p:txBody>
      </p:sp>
      <p:sp>
        <p:nvSpPr>
          <p:cNvPr id="14" name="TextBox 13"/>
          <p:cNvSpPr txBox="1"/>
          <p:nvPr/>
        </p:nvSpPr>
        <p:spPr>
          <a:xfrm>
            <a:off x="1600200" y="4343400"/>
            <a:ext cx="4114800" cy="502920"/>
          </a:xfrm>
          <a:prstGeom prst="rect">
            <a:avLst/>
          </a:prstGeom>
          <a:noFill/>
        </p:spPr>
        <p:txBody>
          <a:bodyPr wrap="square" lIns="0" rIns="0" tIns="0" bIns="0" anchor="ctr">
            <a:spAutoFit/>
          </a:bodyPr>
          <a:lstStyle/>
          <a:p>
            <a:pPr algn="l"/>
            <a:r>
              <a:rPr sz="1900" b="1" i="0">
                <a:solidFill>
                  <a:srgbClr val="0D2B52"/>
                </a:solidFill>
                <a:latin typeface="Cambria"/>
              </a:rPr>
              <a:t>Transport, not just distance</a:t>
            </a:r>
          </a:p>
        </p:txBody>
      </p:sp>
      <p:sp>
        <p:nvSpPr>
          <p:cNvPr id="15" name="TextBox 14"/>
          <p:cNvSpPr txBox="1"/>
          <p:nvPr/>
        </p:nvSpPr>
        <p:spPr>
          <a:xfrm>
            <a:off x="1600200" y="4937760"/>
            <a:ext cx="4114800" cy="1188720"/>
          </a:xfrm>
          <a:prstGeom prst="rect">
            <a:avLst/>
          </a:prstGeom>
          <a:noFill/>
        </p:spPr>
        <p:txBody>
          <a:bodyPr wrap="square" lIns="0" rIns="0" tIns="0" bIns="0" anchor="t">
            <a:spAutoFit/>
          </a:bodyPr>
          <a:lstStyle/>
          <a:p>
            <a:pPr algn="l"/>
            <a:r>
              <a:rPr sz="1400" b="0" i="0">
                <a:solidFill>
                  <a:srgbClr val="1F2A37"/>
                </a:solidFill>
                <a:latin typeface="Calibri"/>
              </a:rPr>
              <a:t>For emergency obstetric care, a ride matters more than a road. Motorcycle ambulances and maternity waiting homes target the binding constraint.</a:t>
            </a:r>
          </a:p>
        </p:txBody>
      </p:sp>
      <p:sp>
        <p:nvSpPr>
          <p:cNvPr id="16" name="Rounded Rectangle 15"/>
          <p:cNvSpPr/>
          <p:nvPr/>
        </p:nvSpPr>
        <p:spPr>
          <a:xfrm>
            <a:off x="6199632" y="4023360"/>
            <a:ext cx="5440680" cy="2194560"/>
          </a:xfrm>
          <a:prstGeom prst="roundRect">
            <a:avLst>
              <a:gd name="adj" fmla="val 5000"/>
            </a:avLst>
          </a:prstGeom>
          <a:solidFill>
            <a:srgbClr val="ED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19672" y="4343400"/>
            <a:ext cx="502920" cy="502920"/>
          </a:xfrm>
          <a:prstGeom prst="ellipse">
            <a:avLst/>
          </a:prstGeom>
          <a:solidFill>
            <a:srgbClr val="B545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600">
                <a:solidFill>
                  <a:srgbClr val="FFFFFF"/>
                </a:solidFill>
                <a:latin typeface="Cambria"/>
              </a:rPr>
              <a:t>4</a:t>
            </a:r>
          </a:p>
        </p:txBody>
      </p:sp>
      <p:sp>
        <p:nvSpPr>
          <p:cNvPr id="18" name="TextBox 17"/>
          <p:cNvSpPr txBox="1"/>
          <p:nvPr/>
        </p:nvSpPr>
        <p:spPr>
          <a:xfrm>
            <a:off x="7251192" y="4343400"/>
            <a:ext cx="4114800" cy="502920"/>
          </a:xfrm>
          <a:prstGeom prst="rect">
            <a:avLst/>
          </a:prstGeom>
          <a:noFill/>
        </p:spPr>
        <p:txBody>
          <a:bodyPr wrap="square" lIns="0" rIns="0" tIns="0" bIns="0" anchor="ctr">
            <a:spAutoFit/>
          </a:bodyPr>
          <a:lstStyle/>
          <a:p>
            <a:pPr algn="l"/>
            <a:r>
              <a:rPr sz="1900" b="1" i="0">
                <a:solidFill>
                  <a:srgbClr val="0D2B52"/>
                </a:solidFill>
                <a:latin typeface="Cambria"/>
              </a:rPr>
              <a:t>Small, targeted works pay</a:t>
            </a:r>
          </a:p>
        </p:txBody>
      </p:sp>
      <p:sp>
        <p:nvSpPr>
          <p:cNvPr id="19" name="TextBox 18"/>
          <p:cNvSpPr txBox="1"/>
          <p:nvPr/>
        </p:nvSpPr>
        <p:spPr>
          <a:xfrm>
            <a:off x="7251192" y="4937760"/>
            <a:ext cx="4114800" cy="1188720"/>
          </a:xfrm>
          <a:prstGeom prst="rect">
            <a:avLst/>
          </a:prstGeom>
          <a:noFill/>
        </p:spPr>
        <p:txBody>
          <a:bodyPr wrap="square" lIns="0" rIns="0" tIns="0" bIns="0" anchor="t">
            <a:spAutoFit/>
          </a:bodyPr>
          <a:lstStyle/>
          <a:p>
            <a:pPr algn="l"/>
            <a:r>
              <a:rPr sz="1400" b="0" i="0">
                <a:solidFill>
                  <a:srgbClr val="1F2A37"/>
                </a:solidFill>
                <a:latin typeface="Calibri"/>
              </a:rPr>
              <a:t>Grade and drain feeder roads before the long rains, and bridge the few fords that cut off the most people.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BFA"/>
        </a:solidFill>
        <a:effectLst/>
      </p:bgPr>
    </p:bg>
    <p:spTree>
      <p:nvGrpSpPr>
        <p:cNvPr id="1" name=""/>
        <p:cNvGrpSpPr/>
        <p:nvPr/>
      </p:nvGrpSpPr>
      <p:grpSpPr/>
      <p:sp>
        <p:nvSpPr>
          <p:cNvPr id="2" name="TextBox 1"/>
          <p:cNvSpPr txBox="1"/>
          <p:nvPr/>
        </p:nvSpPr>
        <p:spPr>
          <a:xfrm>
            <a:off x="548640" y="347472"/>
            <a:ext cx="10972800" cy="274320"/>
          </a:xfrm>
          <a:prstGeom prst="rect">
            <a:avLst/>
          </a:prstGeom>
          <a:noFill/>
        </p:spPr>
        <p:txBody>
          <a:bodyPr wrap="square" lIns="0" rIns="0" tIns="0" bIns="0" anchor="t">
            <a:spAutoFit/>
          </a:bodyPr>
          <a:lstStyle/>
          <a:p>
            <a:pPr algn="l"/>
            <a:r>
              <a:rPr sz="1200" b="1" i="0">
                <a:solidFill>
                  <a:srgbClr val="B5451B"/>
                </a:solidFill>
                <a:latin typeface="Calibri"/>
              </a:rPr>
              <a:t>DISCUSSION</a:t>
            </a:r>
          </a:p>
        </p:txBody>
      </p:sp>
      <p:sp>
        <p:nvSpPr>
          <p:cNvPr id="3" name="TextBox 2"/>
          <p:cNvSpPr txBox="1"/>
          <p:nvPr/>
        </p:nvSpPr>
        <p:spPr>
          <a:xfrm>
            <a:off x="548640" y="603504"/>
            <a:ext cx="11064240" cy="822960"/>
          </a:xfrm>
          <a:prstGeom prst="rect">
            <a:avLst/>
          </a:prstGeom>
          <a:noFill/>
        </p:spPr>
        <p:txBody>
          <a:bodyPr wrap="square" lIns="0" rIns="0" tIns="0" bIns="0" anchor="t">
            <a:spAutoFit/>
          </a:bodyPr>
          <a:lstStyle/>
          <a:p>
            <a:pPr algn="l"/>
            <a:r>
              <a:rPr sz="2800" b="1" i="0">
                <a:solidFill>
                  <a:srgbClr val="0D2B52"/>
                </a:solidFill>
                <a:latin typeface="Cambria"/>
              </a:rPr>
              <a:t>Limitations and next steps</a:t>
            </a:r>
          </a:p>
        </p:txBody>
      </p:sp>
      <p:sp>
        <p:nvSpPr>
          <p:cNvPr id="4" name="Oval 3"/>
          <p:cNvSpPr/>
          <p:nvPr/>
        </p:nvSpPr>
        <p:spPr>
          <a:xfrm>
            <a:off x="548640" y="1691640"/>
            <a:ext cx="411480" cy="41148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a:t>
            </a:r>
          </a:p>
        </p:txBody>
      </p:sp>
      <p:sp>
        <p:nvSpPr>
          <p:cNvPr id="5" name="TextBox 4"/>
          <p:cNvSpPr txBox="1"/>
          <p:nvPr/>
        </p:nvSpPr>
        <p:spPr>
          <a:xfrm>
            <a:off x="1188719" y="1645920"/>
            <a:ext cx="4846320" cy="365760"/>
          </a:xfrm>
          <a:prstGeom prst="rect">
            <a:avLst/>
          </a:prstGeom>
          <a:noFill/>
        </p:spPr>
        <p:txBody>
          <a:bodyPr wrap="square" lIns="0" rIns="0" tIns="0" bIns="0" anchor="t">
            <a:spAutoFit/>
          </a:bodyPr>
          <a:lstStyle/>
          <a:p>
            <a:pPr algn="l"/>
            <a:r>
              <a:rPr sz="1700" b="1" i="0">
                <a:solidFill>
                  <a:srgbClr val="0D2B52"/>
                </a:solidFill>
                <a:latin typeface="Cambria"/>
              </a:rPr>
              <a:t>OSM completeness</a:t>
            </a:r>
          </a:p>
        </p:txBody>
      </p:sp>
      <p:sp>
        <p:nvSpPr>
          <p:cNvPr id="6" name="TextBox 5"/>
          <p:cNvSpPr txBox="1"/>
          <p:nvPr/>
        </p:nvSpPr>
        <p:spPr>
          <a:xfrm>
            <a:off x="1188719" y="2029968"/>
            <a:ext cx="4846320" cy="1005840"/>
          </a:xfrm>
          <a:prstGeom prst="rect">
            <a:avLst/>
          </a:prstGeom>
          <a:noFill/>
        </p:spPr>
        <p:txBody>
          <a:bodyPr wrap="square" lIns="0" rIns="0" tIns="0" bIns="0" anchor="t">
            <a:spAutoFit/>
          </a:bodyPr>
          <a:lstStyle/>
          <a:p>
            <a:pPr algn="l"/>
            <a:r>
              <a:rPr sz="1400" b="0" i="0">
                <a:solidFill>
                  <a:srgbClr val="1F2A37"/>
                </a:solidFill>
                <a:latin typeface="Calibri"/>
              </a:rPr>
              <a:t>Most roads lack a surface tag, so class defaults set wet speeds. Treating untagged secondary/tertiary roads as earth shifts district ranks most (ρ 0.90).</a:t>
            </a:r>
          </a:p>
        </p:txBody>
      </p:sp>
      <p:sp>
        <p:nvSpPr>
          <p:cNvPr id="7" name="Oval 6"/>
          <p:cNvSpPr/>
          <p:nvPr/>
        </p:nvSpPr>
        <p:spPr>
          <a:xfrm>
            <a:off x="6217920" y="1691640"/>
            <a:ext cx="411480" cy="41148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a:t>
            </a:r>
          </a:p>
        </p:txBody>
      </p:sp>
      <p:sp>
        <p:nvSpPr>
          <p:cNvPr id="8" name="TextBox 7"/>
          <p:cNvSpPr txBox="1"/>
          <p:nvPr/>
        </p:nvSpPr>
        <p:spPr>
          <a:xfrm>
            <a:off x="6858000" y="1645920"/>
            <a:ext cx="4846320" cy="365760"/>
          </a:xfrm>
          <a:prstGeom prst="rect">
            <a:avLst/>
          </a:prstGeom>
          <a:noFill/>
        </p:spPr>
        <p:txBody>
          <a:bodyPr wrap="square" lIns="0" rIns="0" tIns="0" bIns="0" anchor="t">
            <a:spAutoFit/>
          </a:bodyPr>
          <a:lstStyle/>
          <a:p>
            <a:pPr algn="l"/>
            <a:r>
              <a:rPr sz="1700" b="1" i="0">
                <a:solidFill>
                  <a:srgbClr val="0D2B52"/>
                </a:solidFill>
                <a:latin typeface="Cambria"/>
              </a:rPr>
              <a:t>Facility list</a:t>
            </a:r>
          </a:p>
        </p:txBody>
      </p:sp>
      <p:sp>
        <p:nvSpPr>
          <p:cNvPr id="9" name="TextBox 8"/>
          <p:cNvSpPr txBox="1"/>
          <p:nvPr/>
        </p:nvSpPr>
        <p:spPr>
          <a:xfrm>
            <a:off x="6858000" y="2029968"/>
            <a:ext cx="4846320" cy="1005840"/>
          </a:xfrm>
          <a:prstGeom prst="rect">
            <a:avLst/>
          </a:prstGeom>
          <a:noFill/>
        </p:spPr>
        <p:txBody>
          <a:bodyPr wrap="square" lIns="0" rIns="0" tIns="0" bIns="0" anchor="t">
            <a:spAutoFit/>
          </a:bodyPr>
          <a:lstStyle/>
          <a:p>
            <a:pPr algn="l"/>
            <a:r>
              <a:rPr sz="1400" b="0" i="0">
                <a:solidFill>
                  <a:srgbClr val="1F2A37"/>
                </a:solidFill>
                <a:latin typeface="Calibri"/>
              </a:rPr>
              <a:t>Dates from about 2018 and excludes private for-profit facilities; relocations need a manual check.</a:t>
            </a:r>
          </a:p>
        </p:txBody>
      </p:sp>
      <p:sp>
        <p:nvSpPr>
          <p:cNvPr id="10" name="Oval 9"/>
          <p:cNvSpPr/>
          <p:nvPr/>
        </p:nvSpPr>
        <p:spPr>
          <a:xfrm>
            <a:off x="548640" y="3246120"/>
            <a:ext cx="411480" cy="41148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a:t>
            </a:r>
          </a:p>
        </p:txBody>
      </p:sp>
      <p:sp>
        <p:nvSpPr>
          <p:cNvPr id="11" name="TextBox 10"/>
          <p:cNvSpPr txBox="1"/>
          <p:nvPr/>
        </p:nvSpPr>
        <p:spPr>
          <a:xfrm>
            <a:off x="1188719" y="3200400"/>
            <a:ext cx="4846320" cy="365760"/>
          </a:xfrm>
          <a:prstGeom prst="rect">
            <a:avLst/>
          </a:prstGeom>
          <a:noFill/>
        </p:spPr>
        <p:txBody>
          <a:bodyPr wrap="square" lIns="0" rIns="0" tIns="0" bIns="0" anchor="t">
            <a:spAutoFit/>
          </a:bodyPr>
          <a:lstStyle/>
          <a:p>
            <a:pPr algn="l"/>
            <a:r>
              <a:rPr sz="1700" b="1" i="0">
                <a:solidFill>
                  <a:srgbClr val="0D2B52"/>
                </a:solidFill>
                <a:latin typeface="Cambria"/>
              </a:rPr>
              <a:t>Refugee sites</a:t>
            </a:r>
          </a:p>
        </p:txBody>
      </p:sp>
      <p:sp>
        <p:nvSpPr>
          <p:cNvPr id="12" name="TextBox 11"/>
          <p:cNvSpPr txBox="1"/>
          <p:nvPr/>
        </p:nvSpPr>
        <p:spPr>
          <a:xfrm>
            <a:off x="1188719" y="3584448"/>
            <a:ext cx="4846320" cy="1005840"/>
          </a:xfrm>
          <a:prstGeom prst="rect">
            <a:avLst/>
          </a:prstGeom>
          <a:noFill/>
        </p:spPr>
        <p:txBody>
          <a:bodyPr wrap="square" lIns="0" rIns="0" tIns="0" bIns="0" anchor="t">
            <a:spAutoFit/>
          </a:bodyPr>
          <a:lstStyle/>
          <a:p>
            <a:pPr algn="l"/>
            <a:r>
              <a:rPr sz="1400" b="0" i="0">
                <a:solidFill>
                  <a:srgbClr val="1F2A37"/>
                </a:solidFill>
                <a:latin typeface="Calibri"/>
              </a:rPr>
              <a:t>Incomplete in OSM; UNHCR settlement boundaries would allow a full breakdown.</a:t>
            </a:r>
          </a:p>
        </p:txBody>
      </p:sp>
      <p:sp>
        <p:nvSpPr>
          <p:cNvPr id="13" name="Oval 12"/>
          <p:cNvSpPr/>
          <p:nvPr/>
        </p:nvSpPr>
        <p:spPr>
          <a:xfrm>
            <a:off x="6217920" y="3246120"/>
            <a:ext cx="411480" cy="41148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a:t>
            </a:r>
          </a:p>
        </p:txBody>
      </p:sp>
      <p:sp>
        <p:nvSpPr>
          <p:cNvPr id="14" name="TextBox 13"/>
          <p:cNvSpPr txBox="1"/>
          <p:nvPr/>
        </p:nvSpPr>
        <p:spPr>
          <a:xfrm>
            <a:off x="6858000" y="3200400"/>
            <a:ext cx="4846320" cy="365760"/>
          </a:xfrm>
          <a:prstGeom prst="rect">
            <a:avLst/>
          </a:prstGeom>
          <a:noFill/>
        </p:spPr>
        <p:txBody>
          <a:bodyPr wrap="square" lIns="0" rIns="0" tIns="0" bIns="0" anchor="t">
            <a:spAutoFit/>
          </a:bodyPr>
          <a:lstStyle/>
          <a:p>
            <a:pPr algn="l"/>
            <a:r>
              <a:rPr sz="1700" b="1" i="0">
                <a:solidFill>
                  <a:srgbClr val="0D2B52"/>
                </a:solidFill>
                <a:latin typeface="Cambria"/>
              </a:rPr>
              <a:t>Ferries</a:t>
            </a:r>
          </a:p>
        </p:txBody>
      </p:sp>
      <p:sp>
        <p:nvSpPr>
          <p:cNvPr id="15" name="TextBox 14"/>
          <p:cNvSpPr txBox="1"/>
          <p:nvPr/>
        </p:nvSpPr>
        <p:spPr>
          <a:xfrm>
            <a:off x="6858000" y="3584448"/>
            <a:ext cx="4846320" cy="1005840"/>
          </a:xfrm>
          <a:prstGeom prst="rect">
            <a:avLst/>
          </a:prstGeom>
          <a:noFill/>
        </p:spPr>
        <p:txBody>
          <a:bodyPr wrap="square" lIns="0" rIns="0" tIns="0" bIns="0" anchor="t">
            <a:spAutoFit/>
          </a:bodyPr>
          <a:lstStyle/>
          <a:p>
            <a:pPr algn="l"/>
            <a:r>
              <a:rPr sz="1400" b="0" i="0">
                <a:solidFill>
                  <a:srgbClr val="1F2A37"/>
                </a:solidFill>
                <a:latin typeface="Calibri"/>
              </a:rPr>
              <a:t>Not modelled: Kalangala and Buvuma appear cut off.</a:t>
            </a:r>
          </a:p>
        </p:txBody>
      </p:sp>
      <p:sp>
        <p:nvSpPr>
          <p:cNvPr id="16" name="Oval 15"/>
          <p:cNvSpPr/>
          <p:nvPr/>
        </p:nvSpPr>
        <p:spPr>
          <a:xfrm>
            <a:off x="548640" y="4800600"/>
            <a:ext cx="411480" cy="41148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a:t>
            </a:r>
          </a:p>
        </p:txBody>
      </p:sp>
      <p:sp>
        <p:nvSpPr>
          <p:cNvPr id="17" name="TextBox 16"/>
          <p:cNvSpPr txBox="1"/>
          <p:nvPr/>
        </p:nvSpPr>
        <p:spPr>
          <a:xfrm>
            <a:off x="1188719" y="4754880"/>
            <a:ext cx="4846320" cy="365760"/>
          </a:xfrm>
          <a:prstGeom prst="rect">
            <a:avLst/>
          </a:prstGeom>
          <a:noFill/>
        </p:spPr>
        <p:txBody>
          <a:bodyPr wrap="square" lIns="0" rIns="0" tIns="0" bIns="0" anchor="t">
            <a:spAutoFit/>
          </a:bodyPr>
          <a:lstStyle/>
          <a:p>
            <a:pPr algn="l"/>
            <a:r>
              <a:rPr sz="1700" b="1" i="0">
                <a:solidFill>
                  <a:srgbClr val="0D2B52"/>
                </a:solidFill>
                <a:latin typeface="Cambria"/>
              </a:rPr>
              <a:t>Rainfall</a:t>
            </a:r>
          </a:p>
        </p:txBody>
      </p:sp>
      <p:sp>
        <p:nvSpPr>
          <p:cNvPr id="18" name="TextBox 17"/>
          <p:cNvSpPr txBox="1"/>
          <p:nvPr/>
        </p:nvSpPr>
        <p:spPr>
          <a:xfrm>
            <a:off x="1188719" y="5138928"/>
            <a:ext cx="4846320" cy="1005840"/>
          </a:xfrm>
          <a:prstGeom prst="rect">
            <a:avLst/>
          </a:prstGeom>
          <a:noFill/>
        </p:spPr>
        <p:txBody>
          <a:bodyPr wrap="square" lIns="0" rIns="0" tIns="0" bIns="0" anchor="t">
            <a:spAutoFit/>
          </a:bodyPr>
          <a:lstStyle/>
          <a:p>
            <a:pPr algn="l"/>
            <a:r>
              <a:rPr sz="1400" b="0" i="0">
                <a:solidFill>
                  <a:srgbClr val="1F2A37"/>
                </a:solidFill>
                <a:latin typeface="Calibri"/>
              </a:rPr>
              <a:t>CHIRPS and TAMSAT disagree on northern trends; the seasonal cycle is less affected.</a:t>
            </a:r>
          </a:p>
        </p:txBody>
      </p:sp>
      <p:sp>
        <p:nvSpPr>
          <p:cNvPr id="19" name="Oval 18"/>
          <p:cNvSpPr/>
          <p:nvPr/>
        </p:nvSpPr>
        <p:spPr>
          <a:xfrm>
            <a:off x="6217920" y="4800600"/>
            <a:ext cx="411480" cy="411480"/>
          </a:xfrm>
          <a:prstGeom prst="ellipse">
            <a:avLst/>
          </a:prstGeom>
          <a:solidFill>
            <a:srgbClr val="0D2B5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Cambria"/>
              </a:rPr>
              <a:t>!</a:t>
            </a:r>
          </a:p>
        </p:txBody>
      </p:sp>
      <p:sp>
        <p:nvSpPr>
          <p:cNvPr id="20" name="TextBox 19"/>
          <p:cNvSpPr txBox="1"/>
          <p:nvPr/>
        </p:nvSpPr>
        <p:spPr>
          <a:xfrm>
            <a:off x="6858000" y="4754880"/>
            <a:ext cx="4846320" cy="365760"/>
          </a:xfrm>
          <a:prstGeom prst="rect">
            <a:avLst/>
          </a:prstGeom>
          <a:noFill/>
        </p:spPr>
        <p:txBody>
          <a:bodyPr wrap="square" lIns="0" rIns="0" tIns="0" bIns="0" anchor="t">
            <a:spAutoFit/>
          </a:bodyPr>
          <a:lstStyle/>
          <a:p>
            <a:pPr algn="l"/>
            <a:r>
              <a:rPr sz="1700" b="1" i="0">
                <a:solidFill>
                  <a:srgbClr val="0D2B52"/>
                </a:solidFill>
                <a:latin typeface="Cambria"/>
              </a:rPr>
              <a:t>Validation</a:t>
            </a:r>
          </a:p>
        </p:txBody>
      </p:sp>
      <p:sp>
        <p:nvSpPr>
          <p:cNvPr id="21" name="TextBox 20"/>
          <p:cNvSpPr txBox="1"/>
          <p:nvPr/>
        </p:nvSpPr>
        <p:spPr>
          <a:xfrm>
            <a:off x="6858000" y="5138928"/>
            <a:ext cx="4846320" cy="1005840"/>
          </a:xfrm>
          <a:prstGeom prst="rect">
            <a:avLst/>
          </a:prstGeom>
          <a:noFill/>
        </p:spPr>
        <p:txBody>
          <a:bodyPr wrap="square" lIns="0" rIns="0" tIns="0" bIns="0" anchor="t">
            <a:spAutoFit/>
          </a:bodyPr>
          <a:lstStyle/>
          <a:p>
            <a:pPr algn="l"/>
            <a:r>
              <a:rPr sz="1400" b="0" i="0">
                <a:solidFill>
                  <a:srgbClr val="1F2A37"/>
                </a:solidFill>
                <a:latin typeface="Calibri"/>
              </a:rPr>
              <a:t>Regional only. Testing whether births shift in bad months needs DHS microdata.</a:t>
            </a:r>
          </a:p>
        </p:txBody>
      </p:sp>
      <p:sp>
        <p:nvSpPr>
          <p:cNvPr id="22" name="TextBox 21"/>
          <p:cNvSpPr txBox="1"/>
          <p:nvPr/>
        </p:nvSpPr>
        <p:spPr>
          <a:xfrm>
            <a:off x="548640" y="6263640"/>
            <a:ext cx="10972800" cy="365760"/>
          </a:xfrm>
          <a:prstGeom prst="rect">
            <a:avLst/>
          </a:prstGeom>
          <a:noFill/>
        </p:spPr>
        <p:txBody>
          <a:bodyPr wrap="square" lIns="0" rIns="0" tIns="0" bIns="0" anchor="t">
            <a:spAutoFit/>
          </a:bodyPr>
          <a:lstStyle/>
          <a:p>
            <a:pPr algn="l"/>
            <a:r>
              <a:rPr sz="1300" b="0" i="1">
                <a:solidFill>
                  <a:srgbClr val="5B6573"/>
                </a:solidFill>
                <a:latin typeface="Calibri"/>
              </a:rPr>
              <a:t>A model describes what the roads allow, not what every family actually does.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2B52"/>
        </a:solidFill>
        <a:effectLst/>
      </p:bgPr>
    </p:bg>
    <p:spTree>
      <p:nvGrpSpPr>
        <p:cNvPr id="1" name=""/>
        <p:cNvGrpSpPr/>
        <p:nvPr/>
      </p:nvGrpSpPr>
      <p:grpSpPr/>
      <p:sp>
        <p:nvSpPr>
          <p:cNvPr id="2" name="TextBox 1"/>
          <p:cNvSpPr txBox="1"/>
          <p:nvPr/>
        </p:nvSpPr>
        <p:spPr>
          <a:xfrm>
            <a:off x="640080" y="731520"/>
            <a:ext cx="10972800" cy="365760"/>
          </a:xfrm>
          <a:prstGeom prst="rect">
            <a:avLst/>
          </a:prstGeom>
          <a:noFill/>
        </p:spPr>
        <p:txBody>
          <a:bodyPr wrap="square" lIns="0" rIns="0" tIns="0" bIns="0" anchor="t">
            <a:spAutoFit/>
          </a:bodyPr>
          <a:lstStyle/>
          <a:p>
            <a:pPr algn="l"/>
            <a:r>
              <a:rPr sz="1300" b="1" i="0">
                <a:solidFill>
                  <a:srgbClr val="9DBFE6"/>
                </a:solidFill>
                <a:latin typeface="Calibri"/>
              </a:rPr>
              <a:t>CONCLUSION</a:t>
            </a:r>
          </a:p>
        </p:txBody>
      </p:sp>
      <p:sp>
        <p:nvSpPr>
          <p:cNvPr id="3" name="TextBox 2"/>
          <p:cNvSpPr txBox="1"/>
          <p:nvPr/>
        </p:nvSpPr>
        <p:spPr>
          <a:xfrm>
            <a:off x="640080" y="1143000"/>
            <a:ext cx="10972800" cy="914400"/>
          </a:xfrm>
          <a:prstGeom prst="rect">
            <a:avLst/>
          </a:prstGeom>
          <a:noFill/>
        </p:spPr>
        <p:txBody>
          <a:bodyPr wrap="square" lIns="0" rIns="0" tIns="0" bIns="0" anchor="t">
            <a:spAutoFit/>
          </a:bodyPr>
          <a:lstStyle/>
          <a:p>
            <a:pPr algn="l"/>
            <a:r>
              <a:rPr sz="3400" b="1" i="0">
                <a:solidFill>
                  <a:srgbClr val="FFFFFF"/>
                </a:solidFill>
                <a:latin typeface="Cambria"/>
              </a:rPr>
              <a:t>Uganda's access problem has a season, a place and a face</a:t>
            </a:r>
          </a:p>
        </p:txBody>
      </p:sp>
      <p:sp>
        <p:nvSpPr>
          <p:cNvPr id="4" name="TextBox 3"/>
          <p:cNvSpPr txBox="1"/>
          <p:nvPr/>
        </p:nvSpPr>
        <p:spPr>
          <a:xfrm>
            <a:off x="640080" y="2606040"/>
            <a:ext cx="3474720" cy="822960"/>
          </a:xfrm>
          <a:prstGeom prst="rect">
            <a:avLst/>
          </a:prstGeom>
          <a:noFill/>
        </p:spPr>
        <p:txBody>
          <a:bodyPr wrap="square" lIns="0" rIns="0" tIns="0" bIns="0" anchor="t">
            <a:spAutoFit/>
          </a:bodyPr>
          <a:lstStyle/>
          <a:p>
            <a:pPr algn="l"/>
            <a:r>
              <a:rPr sz="3800" b="1" i="0">
                <a:solidFill>
                  <a:srgbClr val="9DBFE6"/>
                </a:solidFill>
                <a:latin typeface="Cambria"/>
              </a:rPr>
              <a:t>13% → 18%</a:t>
            </a:r>
          </a:p>
        </p:txBody>
      </p:sp>
      <p:sp>
        <p:nvSpPr>
          <p:cNvPr id="5" name="TextBox 4"/>
          <p:cNvSpPr txBox="1"/>
          <p:nvPr/>
        </p:nvSpPr>
        <p:spPr>
          <a:xfrm>
            <a:off x="640080" y="3474720"/>
            <a:ext cx="3291840" cy="914400"/>
          </a:xfrm>
          <a:prstGeom prst="rect">
            <a:avLst/>
          </a:prstGeom>
          <a:noFill/>
        </p:spPr>
        <p:txBody>
          <a:bodyPr wrap="square" lIns="0" rIns="0" tIns="0" bIns="0" anchor="t">
            <a:spAutoFit/>
          </a:bodyPr>
          <a:lstStyle/>
          <a:p>
            <a:pPr algn="l"/>
            <a:r>
              <a:rPr sz="1500" b="0" i="0">
                <a:solidFill>
                  <a:srgbClr val="CADCF2"/>
                </a:solidFill>
                <a:latin typeface="Calibri"/>
              </a:rPr>
              <a:t>beyond 1 h of a hospital in April: ~2.3 million more people</a:t>
            </a:r>
          </a:p>
        </p:txBody>
      </p:sp>
      <p:sp>
        <p:nvSpPr>
          <p:cNvPr id="6" name="TextBox 5"/>
          <p:cNvSpPr txBox="1"/>
          <p:nvPr/>
        </p:nvSpPr>
        <p:spPr>
          <a:xfrm>
            <a:off x="4389120" y="2606040"/>
            <a:ext cx="3474720" cy="822960"/>
          </a:xfrm>
          <a:prstGeom prst="rect">
            <a:avLst/>
          </a:prstGeom>
          <a:noFill/>
        </p:spPr>
        <p:txBody>
          <a:bodyPr wrap="square" lIns="0" rIns="0" tIns="0" bIns="0" anchor="t">
            <a:spAutoFit/>
          </a:bodyPr>
          <a:lstStyle/>
          <a:p>
            <a:pPr algn="l"/>
            <a:r>
              <a:rPr sz="3800" b="1" i="0">
                <a:solidFill>
                  <a:srgbClr val="9DBFE6"/>
                </a:solidFill>
                <a:latin typeface="Cambria"/>
              </a:rPr>
              <a:t>23% → 32%</a:t>
            </a:r>
          </a:p>
        </p:txBody>
      </p:sp>
      <p:sp>
        <p:nvSpPr>
          <p:cNvPr id="7" name="TextBox 6"/>
          <p:cNvSpPr txBox="1"/>
          <p:nvPr/>
        </p:nvSpPr>
        <p:spPr>
          <a:xfrm>
            <a:off x="4389120" y="3474720"/>
            <a:ext cx="3291840" cy="914400"/>
          </a:xfrm>
          <a:prstGeom prst="rect">
            <a:avLst/>
          </a:prstGeom>
          <a:noFill/>
        </p:spPr>
        <p:txBody>
          <a:bodyPr wrap="square" lIns="0" rIns="0" tIns="0" bIns="0" anchor="t">
            <a:spAutoFit/>
          </a:bodyPr>
          <a:lstStyle/>
          <a:p>
            <a:pPr algn="l"/>
            <a:r>
              <a:rPr sz="1500" b="0" i="0">
                <a:solidFill>
                  <a:srgbClr val="CADCF2"/>
                </a:solidFill>
                <a:latin typeface="Calibri"/>
              </a:rPr>
              <a:t>the poorest fifth, against ~1% for the richest</a:t>
            </a:r>
          </a:p>
        </p:txBody>
      </p:sp>
      <p:sp>
        <p:nvSpPr>
          <p:cNvPr id="8" name="TextBox 7"/>
          <p:cNvSpPr txBox="1"/>
          <p:nvPr/>
        </p:nvSpPr>
        <p:spPr>
          <a:xfrm>
            <a:off x="8138159" y="2606040"/>
            <a:ext cx="3474720" cy="822960"/>
          </a:xfrm>
          <a:prstGeom prst="rect">
            <a:avLst/>
          </a:prstGeom>
          <a:noFill/>
        </p:spPr>
        <p:txBody>
          <a:bodyPr wrap="square" lIns="0" rIns="0" tIns="0" bIns="0" anchor="t">
            <a:spAutoFit/>
          </a:bodyPr>
          <a:lstStyle/>
          <a:p>
            <a:pPr algn="l"/>
            <a:r>
              <a:rPr sz="3800" b="1" i="0">
                <a:solidFill>
                  <a:srgbClr val="F09A6E"/>
                </a:solidFill>
                <a:latin typeface="Cambria"/>
              </a:rPr>
              <a:t>43%</a:t>
            </a:r>
          </a:p>
        </p:txBody>
      </p:sp>
      <p:sp>
        <p:nvSpPr>
          <p:cNvPr id="9" name="TextBox 8"/>
          <p:cNvSpPr txBox="1"/>
          <p:nvPr/>
        </p:nvSpPr>
        <p:spPr>
          <a:xfrm>
            <a:off x="8138159" y="3474720"/>
            <a:ext cx="3291840" cy="914400"/>
          </a:xfrm>
          <a:prstGeom prst="rect">
            <a:avLst/>
          </a:prstGeom>
          <a:noFill/>
        </p:spPr>
        <p:txBody>
          <a:bodyPr wrap="square" lIns="0" rIns="0" tIns="0" bIns="0" anchor="t">
            <a:spAutoFit/>
          </a:bodyPr>
          <a:lstStyle/>
          <a:p>
            <a:pPr algn="l"/>
            <a:r>
              <a:rPr sz="1500" b="0" i="0">
                <a:solidFill>
                  <a:srgbClr val="CADCF2"/>
                </a:solidFill>
                <a:latin typeface="Calibri"/>
              </a:rPr>
              <a:t>of women 15–49 more than 2 h on foot from emergency obstetric care in April</a:t>
            </a:r>
          </a:p>
        </p:txBody>
      </p:sp>
      <p:sp>
        <p:nvSpPr>
          <p:cNvPr id="10" name="TextBox 9"/>
          <p:cNvSpPr txBox="1"/>
          <p:nvPr/>
        </p:nvSpPr>
        <p:spPr>
          <a:xfrm>
            <a:off x="640080" y="4892040"/>
            <a:ext cx="10881360" cy="548640"/>
          </a:xfrm>
          <a:prstGeom prst="rect">
            <a:avLst/>
          </a:prstGeom>
          <a:noFill/>
        </p:spPr>
        <p:txBody>
          <a:bodyPr wrap="square" lIns="0" rIns="0" tIns="0" bIns="0" anchor="t">
            <a:spAutoFit/>
          </a:bodyPr>
          <a:lstStyle/>
          <a:p>
            <a:pPr algn="l"/>
            <a:r>
              <a:rPr sz="1700" b="0" i="0">
                <a:solidFill>
                  <a:srgbClr val="FFFFFF"/>
                </a:solidFill>
                <a:latin typeface="Calibri"/>
              </a:rPr>
              <a:t>Plan by season and by place: time maintenance before April, target the poorest, and bridge the right crossings.</a:t>
            </a:r>
          </a:p>
        </p:txBody>
      </p:sp>
      <p:sp>
        <p:nvSpPr>
          <p:cNvPr id="11" name="TextBox 10"/>
          <p:cNvSpPr txBox="1"/>
          <p:nvPr/>
        </p:nvSpPr>
        <p:spPr>
          <a:xfrm>
            <a:off x="640080" y="5806440"/>
            <a:ext cx="10972800" cy="365760"/>
          </a:xfrm>
          <a:prstGeom prst="rect">
            <a:avLst/>
          </a:prstGeom>
          <a:noFill/>
        </p:spPr>
        <p:txBody>
          <a:bodyPr wrap="square" lIns="0" rIns="0" tIns="0" bIns="0" anchor="t">
            <a:spAutoFit/>
          </a:bodyPr>
          <a:lstStyle/>
          <a:p>
            <a:pPr algn="l"/>
            <a:r>
              <a:rPr sz="1400" b="1" i="0">
                <a:solidFill>
                  <a:srgbClr val="FFFFFF"/>
                </a:solidFill>
                <a:latin typeface="Calibri"/>
              </a:rPr>
              <a:t>Interactive map: </a:t>
            </a:r>
            <a:r>
              <a:rPr sz="1400" b="0" i="0">
                <a:solidFill>
                  <a:srgbClr val="CADCF2"/>
                </a:solidFill>
                <a:latin typeface="Calibri"/>
              </a:rPr>
              <a:t>gavacharles.github.io/uganda-rainy-season-access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